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6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7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8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daaf0ab7-a0b1-d52c-8ab0-1226afdcd1cf}">
          <p14:sldIdLst>
            <p14:sldId id="256"/>
          </p14:sldIdLst>
        </p14:section>
        <p14:section name="サマリー" id="{cefb28fe-ce54-8c9e-5b84-9b435fd2578b}">
          <p14:sldIdLst>
            <p14:sldId id="257"/>
          </p14:sldIdLst>
        </p14:section>
        <p14:section name="市場" id="{32ccac98-9580-4e45-29d4-020f0ea8e463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顧客と予算" id="{d471cedd-7d7b-08ba-8d7a-c82334863263}">
          <p14:sldIdLst>
            <p14:sldId id="264"/>
            <p14:sldId id="265"/>
            <p14:sldId id="266"/>
            <p14:sldId id="267"/>
          </p14:sldIdLst>
        </p14:section>
        <p14:section name="戦略" id="{3cce0894-f958-b79d-ff93-605a43641d13}">
          <p14:sldIdLst>
            <p14:sldId id="268"/>
            <p14:sldId id="269"/>
            <p14:sldId id="270"/>
            <p14:sldId id="271"/>
            <p14:sldId id="272"/>
          </p14:sldIdLst>
        </p14:section>
        <p14:section name="コーディネート事業" id="{1b2af0cf-7337-ab07-c292-dba16b67a639}">
          <p14:sldIdLst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まとめ" id="{c3255186-93b4-8771-51e8-600be8d08453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A545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4A5450"/>
                </a:solidFill>
                <a:latin typeface="+mn-lt"/>
              </a:rPr>
              <a:t>新設住宅着工戸数（全国・年度、万戸）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着工戸数（万戸）</c:v>
                </c:pt>
              </c:strCache>
            </c:strRef>
          </c:tx>
          <c:spPr>
            <a:solidFill>
              <a:srgbClr val="7E9C8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6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</c:v>
                  </c:pt>
                  <c:pt idx="4">
                    <c:v>2028</c:v>
                  </c:pt>
                  <c:pt idx="5">
                    <c:v>2029</c:v>
                  </c:pt>
                  <c:pt idx="6">
                    <c:v>2030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81.6</c:v>
                </c:pt>
                <c:pt idx="1">
                  <c:v>71.1</c:v>
                </c:pt>
                <c:pt idx="2">
                  <c:v>73</c:v>
                </c:pt>
                <c:pt idx="3">
                  <c:v>75</c:v>
                </c:pt>
                <c:pt idx="4">
                  <c:v>77</c:v>
                </c:pt>
                <c:pt idx="5">
                  <c:v>78.5</c:v>
                </c:pt>
                <c:pt idx="6">
                  <c:v>80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6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4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9525" cap="flat">
              <a:solidFill>
                <a:srgbClr val="E3E8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45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A545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4A5450"/>
                </a:solidFill>
                <a:latin typeface="+mn-lt"/>
              </a:rPr>
              <a:t>住宅リフォーム受注件数の見通し（万件）― 2026年度以降は試算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強気（横ばい）</c:v>
                </c:pt>
              </c:strCache>
            </c:strRef>
          </c:tx>
          <c:spPr>
            <a:solidFill>
              <a:srgbClr val="7E9C8A"/>
            </a:solidFill>
            <a:ln w="31750" cap="flat">
              <a:solidFill>
                <a:srgbClr val="7E9C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7E9C8A"/>
              </a:solidFill>
              <a:ln w="9525" cap="flat">
                <a:solidFill>
                  <a:srgbClr val="7E9C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747</c:v>
                </c:pt>
                <c:pt idx="1">
                  <c:v>747</c:v>
                </c:pt>
                <c:pt idx="2">
                  <c:v>747</c:v>
                </c:pt>
                <c:pt idx="3">
                  <c:v>747</c:v>
                </c:pt>
                <c:pt idx="4">
                  <c:v>747</c:v>
                </c:pt>
                <c:pt idx="5">
                  <c:v>747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標準</c:v>
                </c:pt>
              </c:strCache>
            </c:strRef>
          </c:tx>
          <c:spPr>
            <a:solidFill>
              <a:srgbClr val="26403A"/>
            </a:solidFill>
            <a:ln w="31750" cap="flat">
              <a:solidFill>
                <a:srgbClr val="2640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6403A"/>
              </a:solidFill>
              <a:ln w="9525" cap="flat">
                <a:solidFill>
                  <a:srgbClr val="2640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747</c:v>
                </c:pt>
                <c:pt idx="1">
                  <c:v>710</c:v>
                </c:pt>
                <c:pt idx="2">
                  <c:v>703</c:v>
                </c:pt>
                <c:pt idx="3">
                  <c:v>696</c:v>
                </c:pt>
                <c:pt idx="4">
                  <c:v>689</c:v>
                </c:pt>
                <c:pt idx="5">
                  <c:v>682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弱気</c:v>
                </c:pt>
              </c:strCache>
            </c:strRef>
          </c:tx>
          <c:spPr>
            <a:solidFill>
              <a:srgbClr val="C0623B"/>
            </a:solidFill>
            <a:ln w="31750" cap="flat">
              <a:solidFill>
                <a:srgbClr val="C062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0623B"/>
              </a:solidFill>
              <a:ln w="9525" cap="flat">
                <a:solidFill>
                  <a:srgbClr val="C062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747</c:v>
                </c:pt>
                <c:pt idx="1">
                  <c:v>672</c:v>
                </c:pt>
                <c:pt idx="2">
                  <c:v>659</c:v>
                </c:pt>
                <c:pt idx="3">
                  <c:v>646</c:v>
                </c:pt>
                <c:pt idx="4">
                  <c:v>633</c:v>
                </c:pt>
                <c:pt idx="5">
                  <c:v>620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4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80"/>
          <c:min val="580"/>
        </c:scaling>
        <c:delete val="0"/>
        <c:axPos val="l"/>
        <c:majorGridlines>
          <c:spPr>
            <a:ln w="9525" cap="flat">
              <a:solidFill>
                <a:srgbClr val="E3E8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45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A545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4A5450"/>
                </a:solidFill>
                <a:latin typeface="+mn-lt"/>
              </a:rPr>
              <a:t>2025年 新設住宅着工の前年比（全国 −6.5%）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前年比（%）</c:v>
                </c:pt>
              </c:strCache>
            </c:strRef>
          </c:tx>
          <c:spPr>
            <a:solidFill>
              <a:srgbClr val="4F6D7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6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近畿圏</c:v>
                  </c:pt>
                  <c:pt idx="1">
                    <c:v>首都圏</c:v>
                  </c:pt>
                  <c:pt idx="2">
                    <c:v>中部圏</c:v>
                  </c:pt>
                  <c:pt idx="3">
                    <c:v>その他地域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-1.6</c:v>
                </c:pt>
                <c:pt idx="1">
                  <c:v>-5.9</c:v>
                </c:pt>
                <c:pt idx="2">
                  <c:v>-7.1</c:v>
                </c:pt>
                <c:pt idx="3">
                  <c:v>-9.2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6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4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12"/>
        </c:scaling>
        <c:delete val="0"/>
        <c:axPos val="b"/>
        <c:majorGridlines>
          <c:spPr>
            <a:ln w="9525" cap="flat">
              <a:solidFill>
                <a:srgbClr val="E3E8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45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A545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4A5450"/>
                </a:solidFill>
                <a:latin typeface="+mn-lt"/>
              </a:rPr>
              <a:t>入口の件数（万件/年）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築10〜15年の持家 水回り</c:v>
                </c:pt>
              </c:strCache>
            </c:strRef>
          </c:tx>
          <c:spPr>
            <a:solidFill>
              <a:srgbClr val="26403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</c:v>
                  </c:pt>
                  <c:pt idx="4">
                    <c:v>2028</c:v>
                  </c:pt>
                  <c:pt idx="5">
                    <c:v>2029</c:v>
                  </c:pt>
                  <c:pt idx="6">
                    <c:v>2030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19.3</c:v>
                </c:pt>
                <c:pt idx="1">
                  <c:v>19.8</c:v>
                </c:pt>
                <c:pt idx="2">
                  <c:v>19.9</c:v>
                </c:pt>
                <c:pt idx="3">
                  <c:v>19.8</c:v>
                </c:pt>
                <c:pt idx="4">
                  <c:v>19.7</c:v>
                </c:pt>
                <c:pt idx="5">
                  <c:v>19.3</c:v>
                </c:pt>
                <c:pt idx="6">
                  <c:v>19.2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中古購入時のリフォーム</c:v>
                </c:pt>
              </c:strCache>
            </c:strRef>
          </c:tx>
          <c:spPr>
            <a:solidFill>
              <a:srgbClr val="7E9C8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</c:v>
                  </c:pt>
                  <c:pt idx="4">
                    <c:v>2028</c:v>
                  </c:pt>
                  <c:pt idx="5">
                    <c:v>2029</c:v>
                  </c:pt>
                  <c:pt idx="6">
                    <c:v>2030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11.5</c:v>
                </c:pt>
                <c:pt idx="1">
                  <c:v>12.6</c:v>
                </c:pt>
                <c:pt idx="2">
                  <c:v>12.8</c:v>
                </c:pt>
                <c:pt idx="3">
                  <c:v>12.9</c:v>
                </c:pt>
                <c:pt idx="4">
                  <c:v>13.1</c:v>
                </c:pt>
                <c:pt idx="5">
                  <c:v>13.2</c:v>
                </c:pt>
                <c:pt idx="6">
                  <c:v>13.3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4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9525" cap="flat">
              <a:solidFill>
                <a:srgbClr val="E3E8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45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A545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4A5450"/>
                </a:solidFill>
                <a:latin typeface="+mn-lt"/>
              </a:rPr>
              <a:t>1件あたりの予算（万円・試算）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水回り4点（ミドル）</c:v>
                </c:pt>
              </c:strCache>
            </c:strRef>
          </c:tx>
          <c:spPr>
            <a:solidFill>
              <a:srgbClr val="26403A"/>
            </a:solidFill>
            <a:ln w="31750" cap="flat">
              <a:solidFill>
                <a:srgbClr val="2640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6403A"/>
              </a:solidFill>
              <a:ln w="9525" cap="flat">
                <a:solidFill>
                  <a:srgbClr val="2640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</c:v>
                  </c:pt>
                  <c:pt idx="4">
                    <c:v>2028</c:v>
                  </c:pt>
                  <c:pt idx="5">
                    <c:v>2029</c:v>
                  </c:pt>
                  <c:pt idx="6">
                    <c:v>2030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190</c:v>
                </c:pt>
                <c:pt idx="1">
                  <c:v>195</c:v>
                </c:pt>
                <c:pt idx="2">
                  <c:v>200</c:v>
                </c:pt>
                <c:pt idx="3">
                  <c:v>205</c:v>
                </c:pt>
                <c:pt idx="4">
                  <c:v>210</c:v>
                </c:pt>
                <c:pt idx="5">
                  <c:v>215</c:v>
                </c:pt>
                <c:pt idx="6">
                  <c:v>220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大型リノベ（平均）</c:v>
                </c:pt>
              </c:strCache>
            </c:strRef>
          </c:tx>
          <c:spPr>
            <a:solidFill>
              <a:srgbClr val="C0623B"/>
            </a:solidFill>
            <a:ln w="31750" cap="flat">
              <a:solidFill>
                <a:srgbClr val="C062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623B"/>
              </a:solidFill>
              <a:ln w="9525" cap="flat">
                <a:solidFill>
                  <a:srgbClr val="C062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</c:v>
                  </c:pt>
                  <c:pt idx="4">
                    <c:v>2028</c:v>
                  </c:pt>
                  <c:pt idx="5">
                    <c:v>2029</c:v>
                  </c:pt>
                  <c:pt idx="6">
                    <c:v>2030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434</c:v>
                </c:pt>
                <c:pt idx="1">
                  <c:v>445</c:v>
                </c:pt>
                <c:pt idx="2">
                  <c:v>456</c:v>
                </c:pt>
                <c:pt idx="3">
                  <c:v>467</c:v>
                </c:pt>
                <c:pt idx="4">
                  <c:v>479</c:v>
                </c:pt>
                <c:pt idx="5">
                  <c:v>491</c:v>
                </c:pt>
                <c:pt idx="6">
                  <c:v>503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4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0"/>
          <c:min val="0"/>
        </c:scaling>
        <c:delete val="0"/>
        <c:axPos val="l"/>
        <c:majorGridlines>
          <c:spPr>
            <a:ln w="9525" cap="flat">
              <a:solidFill>
                <a:srgbClr val="E3E8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45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A545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4A5450"/>
                </a:solidFill>
                <a:latin typeface="+mn-lt"/>
              </a:rPr>
              <a:t>水回り100件あたりの粗利（万円）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水回り</c:v>
                </c:pt>
              </c:strCache>
            </c:strRef>
          </c:tx>
          <c:spPr>
            <a:solidFill>
              <a:srgbClr val="2640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水回りだけ</c:v>
                  </c:pt>
                  <c:pt idx="1">
                    <c:v>コーディネート＋大型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5600</c:v>
                </c:pt>
                <c:pt idx="1">
                  <c:v>5600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内装・家具の追加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水回りだけ</c:v>
                  </c:pt>
                  <c:pt idx="1">
                    <c:v>コーディネート＋大型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1056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大型リノベ</c:v>
                </c:pt>
              </c:strCache>
            </c:strRef>
          </c:tx>
          <c:spPr>
            <a:solidFill>
              <a:srgbClr val="C062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水回りだけ</c:v>
                  </c:pt>
                  <c:pt idx="1">
                    <c:v>コーディネート＋大型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2115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4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0"/>
        </c:scaling>
        <c:delete val="0"/>
        <c:axPos val="l"/>
        <c:majorGridlines>
          <c:spPr>
            <a:ln w="9525" cap="flat">
              <a:solidFill>
                <a:srgbClr val="E3E8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45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A545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4A5450"/>
                </a:solidFill>
                <a:latin typeface="+mn-lt"/>
              </a:rPr>
              <a:t>売上と粗利（億円）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売上（億円）</c:v>
                </c:pt>
              </c:strCache>
            </c:strRef>
          </c:tx>
          <c:spPr>
            <a:solidFill>
              <a:srgbClr val="7E9C8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6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1.62</c:v>
                </c:pt>
                <c:pt idx="1">
                  <c:v>2.88</c:v>
                </c:pt>
                <c:pt idx="2">
                  <c:v>4.57</c:v>
                </c:pt>
                <c:pt idx="3">
                  <c:v>6.33</c:v>
                </c:pt>
                <c:pt idx="4">
                  <c:v>7.87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粗利（億円）</c:v>
                </c:pt>
              </c:strCache>
            </c:strRef>
          </c:tx>
          <c:spPr>
            <a:solidFill>
              <a:srgbClr val="C0623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6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0.47</c:v>
                </c:pt>
                <c:pt idx="1">
                  <c:v>0.84</c:v>
                </c:pt>
                <c:pt idx="2">
                  <c:v>1.34</c:v>
                </c:pt>
                <c:pt idx="3">
                  <c:v>1.87</c:v>
                </c:pt>
                <c:pt idx="4">
                  <c:v>2.33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26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4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</c:scaling>
        <c:delete val="0"/>
        <c:axPos val="l"/>
        <c:majorGridlines>
          <c:spPr>
            <a:ln w="9525" cap="flat">
              <a:solidFill>
                <a:srgbClr val="E3E8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45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A545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4A5450"/>
                </a:solidFill>
                <a:latin typeface="+mn-lt"/>
              </a:rPr>
              <a:t>1件あたりの工数（時間）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現状（時間）</c:v>
                </c:pt>
              </c:strCache>
            </c:strRef>
          </c:tx>
          <c:spPr>
            <a:solidFill>
              <a:srgbClr val="A8B9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イメージ作成</c:v>
                  </c:pt>
                  <c:pt idx="1">
                    <c:v>家具の選定</c:v>
                  </c:pt>
                  <c:pt idx="2">
                    <c:v>リスト・見積もり</c:v>
                  </c:pt>
                  <c:pt idx="3">
                    <c:v>修正対応</c:v>
                  </c:pt>
                  <c:pt idx="4">
                    <c:v>事前ヒアリング</c:v>
                  </c:pt>
                  <c:pt idx="5">
                    <c:v>面談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0.5</c:v>
                </c:pt>
                <c:pt idx="5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AI活用後（時間）</c:v>
                </c:pt>
              </c:strCache>
            </c:strRef>
          </c:tx>
          <c:spPr>
            <a:solidFill>
              <a:srgbClr val="C062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イメージ作成</c:v>
                  </c:pt>
                  <c:pt idx="1">
                    <c:v>家具の選定</c:v>
                  </c:pt>
                  <c:pt idx="2">
                    <c:v>リスト・見積もり</c:v>
                  </c:pt>
                  <c:pt idx="3">
                    <c:v>修正対応</c:v>
                  </c:pt>
                  <c:pt idx="4">
                    <c:v>事前ヒアリング</c:v>
                  </c:pt>
                  <c:pt idx="5">
                    <c:v>面談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0.5</c:v>
                </c:pt>
                <c:pt idx="1">
                  <c:v>0.5</c:v>
                </c:pt>
                <c:pt idx="2">
                  <c:v>0.17</c:v>
                </c:pt>
                <c:pt idx="3">
                  <c:v>0.5</c:v>
                </c:pt>
                <c:pt idx="4">
                  <c:v>0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4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3E8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45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本資料は公的統計・調査機関のデータと、それをもとにした試算で構成しています。試算値はスライド内に明記しています。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80"/>
                </a:solidFill>
              </a:rPr>
              <a:t>2026 リフォーム市場分析と事業戦略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2026 リフォーム市場分析と事業戦略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新築をあきらめた中間層に、“予算内で最適な住まい”を。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水回りを入口に、コーディネートで選ばれる会社へ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エグゼクティブサマリー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新築は縮小、リフォームは単価で伸びる。勝負は「1件あたりの提案価値」</a:t>
            </a:r>
            <a:endParaRPr lang="en-US" sz="1500" dirty="0"/>
          </a:p>
        </p:txBody>
      </p:sp>
      <p:sp>
        <p:nvSpPr>
          <p:cNvPr id="4" name="card-1"/>
          <p:cNvSpPr/>
          <p:nvPr/>
        </p:nvSpPr>
        <p:spPr>
          <a:xfrm>
            <a:off x="548640" y="160020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2"/>
          <p:cNvSpPr txBox="1"/>
          <p:nvPr/>
        </p:nvSpPr>
        <p:spPr>
          <a:xfrm>
            <a:off x="777240" y="1783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71.1万戸</a:t>
            </a:r>
            <a:endParaRPr lang="en-US" sz="3400" dirty="0"/>
          </a:p>
        </p:txBody>
      </p:sp>
      <p:sp>
        <p:nvSpPr>
          <p:cNvPr id="6" name="text-3"/>
          <p:cNvSpPr txBox="1"/>
          <p:nvPr/>
        </p:nvSpPr>
        <p:spPr>
          <a:xfrm>
            <a:off x="777240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2025年度の新設住宅着工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前年度比 −12.9%</a:t>
            </a:r>
            <a:endParaRPr lang="en-US" sz="1200" dirty="0"/>
          </a:p>
        </p:txBody>
      </p:sp>
      <p:sp>
        <p:nvSpPr>
          <p:cNvPr id="7" name="card-4"/>
          <p:cNvSpPr/>
          <p:nvPr/>
        </p:nvSpPr>
        <p:spPr>
          <a:xfrm>
            <a:off x="3355848" y="160020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-5"/>
          <p:cNvSpPr txBox="1"/>
          <p:nvPr/>
        </p:nvSpPr>
        <p:spPr>
          <a:xfrm>
            <a:off x="3584448" y="1783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7.7兆円</a:t>
            </a:r>
            <a:endParaRPr lang="en-US" sz="3400" dirty="0"/>
          </a:p>
        </p:txBody>
      </p:sp>
      <p:sp>
        <p:nvSpPr>
          <p:cNvPr id="9" name="text-6"/>
          <p:cNvSpPr txBox="1"/>
          <p:nvPr/>
        </p:nvSpPr>
        <p:spPr>
          <a:xfrm>
            <a:off x="3584448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2026年のリフォーム市場予測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単価上昇で微増</a:t>
            </a:r>
            <a:endParaRPr lang="en-US" sz="1200" dirty="0"/>
          </a:p>
        </p:txBody>
      </p:sp>
      <p:sp>
        <p:nvSpPr>
          <p:cNvPr id="10" name="card-7"/>
          <p:cNvSpPr/>
          <p:nvPr/>
        </p:nvSpPr>
        <p:spPr>
          <a:xfrm>
            <a:off x="6163056" y="160020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-8"/>
          <p:cNvSpPr txBox="1"/>
          <p:nvPr/>
        </p:nvSpPr>
        <p:spPr>
          <a:xfrm>
            <a:off x="6391656" y="1783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</a:rPr>
              <a:t>約1.5倍</a:t>
            </a:r>
            <a:endParaRPr lang="en-US" sz="3400" dirty="0"/>
          </a:p>
        </p:txBody>
      </p:sp>
      <p:sp>
        <p:nvSpPr>
          <p:cNvPr id="12" name="text-9"/>
          <p:cNvSpPr txBox="1"/>
          <p:nvPr/>
        </p:nvSpPr>
        <p:spPr>
          <a:xfrm>
            <a:off x="6391656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リフォーム予算291万円→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実際の費用434万円</a:t>
            </a:r>
            <a:endParaRPr lang="en-US" sz="1200" dirty="0"/>
          </a:p>
        </p:txBody>
      </p:sp>
      <p:sp>
        <p:nvSpPr>
          <p:cNvPr id="13" name="card-10"/>
          <p:cNvSpPr/>
          <p:nvPr/>
        </p:nvSpPr>
        <p:spPr>
          <a:xfrm>
            <a:off x="8970264" y="160020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-11"/>
          <p:cNvSpPr txBox="1"/>
          <p:nvPr/>
        </p:nvSpPr>
        <p:spPr>
          <a:xfrm>
            <a:off x="9198864" y="1783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</a:rPr>
              <a:t>約8割</a:t>
            </a:r>
            <a:endParaRPr lang="en-US" sz="3400" dirty="0"/>
          </a:p>
        </p:txBody>
      </p:sp>
      <p:sp>
        <p:nvSpPr>
          <p:cNvPr id="15" name="text-12"/>
          <p:cNvSpPr txBox="1"/>
          <p:nvPr/>
        </p:nvSpPr>
        <p:spPr>
          <a:xfrm>
            <a:off x="9198864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Z世代の「インテリア迷子」が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AIでのコーディネートを希望</a:t>
            </a:r>
            <a:endParaRPr lang="en-US" sz="1200" dirty="0"/>
          </a:p>
        </p:txBody>
      </p:sp>
      <p:sp>
        <p:nvSpPr>
          <p:cNvPr id="16" name="card-13"/>
          <p:cNvSpPr/>
          <p:nvPr/>
        </p:nvSpPr>
        <p:spPr>
          <a:xfrm>
            <a:off x="548640" y="3520440"/>
            <a:ext cx="1106424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-14"/>
          <p:cNvSpPr txBox="1"/>
          <p:nvPr/>
        </p:nvSpPr>
        <p:spPr>
          <a:xfrm>
            <a:off x="91440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結論</a:t>
            </a:r>
            <a:endParaRPr lang="en-US" sz="1400" dirty="0"/>
          </a:p>
        </p:txBody>
      </p:sp>
      <p:sp>
        <p:nvSpPr>
          <p:cNvPr id="18" name="text-15"/>
          <p:cNvSpPr txBox="1"/>
          <p:nvPr/>
        </p:nvSpPr>
        <p:spPr>
          <a:xfrm>
            <a:off x="914400" y="411480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ターゲット：築10〜15年の持家（戸建て・マンション）と中古購入者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入口：水回り4点（約200万円）で接点をつくる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利益：コーディネート（内装・家具）と大型リノベで伸ばす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差別化：AIで用意し、Riekoが「判断」する ―「買う前ジャッジ」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1. 市場：新築からリフォームへ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新築着工・リフォーム市場・家計・地域の動き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新築着工は2030年度でも2024年度の水準に戻らない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2026年度以降の増加は反動減からの「揺り戻し」。持家は2040年度に14万戸へ</a:t>
            </a:r>
            <a:endParaRPr lang="en-US" sz="1500" dirty="0"/>
          </a:p>
        </p:txBody>
      </p:sp>
      <p:graphicFrame>
        <p:nvGraphicFramePr>
          <p:cNvPr id="4" name="chart-national-starts" descr=""/>
          <p:cNvGraphicFramePr/>
          <p:nvPr/>
        </p:nvGraphicFramePr>
        <p:xfrm>
          <a:off x="548640" y="1600200"/>
          <a:ext cx="74980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-16"/>
          <p:cNvSpPr/>
          <p:nvPr/>
        </p:nvSpPr>
        <p:spPr>
          <a:xfrm>
            <a:off x="8321040" y="1600200"/>
            <a:ext cx="3291840" cy="438912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17"/>
          <p:cNvSpPr txBox="1"/>
          <p:nvPr/>
        </p:nvSpPr>
        <p:spPr>
          <a:xfrm>
            <a:off x="8549640" y="1783080"/>
            <a:ext cx="2834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実績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2024年度 81.6万戸（駆け込み）→ 2025年度 71.1万戸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予測（野村総研）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2026年度 73万戸、2027年度 75万戸、2030年度 80万戸がピーク、2040年度 61万戸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示唆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新築を建てられない層が「今の家を直す」側に回る</a:t>
            </a:r>
            <a:endParaRPr lang="en-US" sz="1300" dirty="0"/>
          </a:p>
        </p:txBody>
      </p:sp>
      <p:sp>
        <p:nvSpPr>
          <p:cNvPr id="7" name="text-18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671"/>
                </a:solidFill>
              </a:rPr>
              <a:t>出典：国交省 住宅着工統計、野村総合研究所（2026年6月）。2028・2029年度は2027年度と2030年度の間を均等に補間した値。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リフォーム市場は伸びるが、主因は単価の上昇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件数は横ばい〜微減。売上は「客単価」と「家具の同時購入」で伸ばす</a:t>
            </a:r>
            <a:endParaRPr lang="en-US" sz="1500" dirty="0"/>
          </a:p>
        </p:txBody>
      </p:sp>
      <p:sp>
        <p:nvSpPr>
          <p:cNvPr id="4" name="card-19"/>
          <p:cNvSpPr/>
          <p:nvPr/>
        </p:nvSpPr>
        <p:spPr>
          <a:xfrm>
            <a:off x="548640" y="1600200"/>
            <a:ext cx="274320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20"/>
          <p:cNvSpPr txBox="1"/>
          <p:nvPr/>
        </p:nvSpPr>
        <p:spPr>
          <a:xfrm>
            <a:off x="777240" y="1783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7.51兆円</a:t>
            </a:r>
            <a:endParaRPr lang="en-US" sz="3400" dirty="0"/>
          </a:p>
        </p:txBody>
      </p:sp>
      <p:sp>
        <p:nvSpPr>
          <p:cNvPr id="6" name="text-21"/>
          <p:cNvSpPr txBox="1"/>
          <p:nvPr/>
        </p:nvSpPr>
        <p:spPr>
          <a:xfrm>
            <a:off x="777240" y="2560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2025年 リフォーム市場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前年比 +2.5%（矢野経済研究所）</a:t>
            </a:r>
            <a:endParaRPr lang="en-US" sz="1200" dirty="0"/>
          </a:p>
        </p:txBody>
      </p:sp>
      <p:sp>
        <p:nvSpPr>
          <p:cNvPr id="7" name="card-22"/>
          <p:cNvSpPr/>
          <p:nvPr/>
        </p:nvSpPr>
        <p:spPr>
          <a:xfrm>
            <a:off x="548640" y="3383280"/>
            <a:ext cx="274320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-23"/>
          <p:cNvSpPr txBox="1"/>
          <p:nvPr/>
        </p:nvSpPr>
        <p:spPr>
          <a:xfrm>
            <a:off x="777240" y="3566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</a:rPr>
              <a:t>747万件</a:t>
            </a:r>
            <a:endParaRPr lang="en-US" sz="3400" dirty="0"/>
          </a:p>
        </p:txBody>
      </p:sp>
      <p:sp>
        <p:nvSpPr>
          <p:cNvPr id="9" name="text-24"/>
          <p:cNvSpPr txBox="1"/>
          <p:nvPr/>
        </p:nvSpPr>
        <p:spPr>
          <a:xfrm>
            <a:off x="777240" y="4343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2025年度 住宅リフォーム受注件数（約）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国交省 建築物リフォーム調査</a:t>
            </a:r>
            <a:endParaRPr lang="en-US" sz="1200" dirty="0"/>
          </a:p>
        </p:txBody>
      </p:sp>
      <p:graphicFrame>
        <p:nvGraphicFramePr>
          <p:cNvPr id="10" name="chart-orders" descr=""/>
          <p:cNvGraphicFramePr/>
          <p:nvPr/>
        </p:nvGraphicFramePr>
        <p:xfrm>
          <a:off x="3566160" y="1600200"/>
          <a:ext cx="80467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-25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671"/>
                </a:solidFill>
              </a:rPr>
              <a:t>試算：標準＝2026年度 −5%（同年4〜6月の住宅受注高 −7.6%）、以降は年 −1%（市場 +1.5% − 単価 +2.5%）。747万件は二次情報で、国交省の原資料での確認を推奨。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家計：平均は上がっても、多くの世帯は豊かさを実感できない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新築をあきらめた中間層が、最大のボリュームゾーンになる</a:t>
            </a:r>
            <a:endParaRPr lang="en-US" sz="1500" dirty="0"/>
          </a:p>
        </p:txBody>
      </p:sp>
      <p:sp>
        <p:nvSpPr>
          <p:cNvPr id="4" name="card-26"/>
          <p:cNvSpPr/>
          <p:nvPr/>
        </p:nvSpPr>
        <p:spPr>
          <a:xfrm>
            <a:off x="548640" y="160020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27"/>
          <p:cNvSpPr txBox="1"/>
          <p:nvPr/>
        </p:nvSpPr>
        <p:spPr>
          <a:xfrm>
            <a:off x="777240" y="1783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451万円</a:t>
            </a:r>
            <a:endParaRPr lang="en-US" sz="3400" dirty="0"/>
          </a:p>
        </p:txBody>
      </p:sp>
      <p:sp>
        <p:nvSpPr>
          <p:cNvPr id="6" name="text-28"/>
          <p:cNvSpPr txBox="1"/>
          <p:nvPr/>
        </p:nvSpPr>
        <p:spPr>
          <a:xfrm>
            <a:off x="777240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世帯所得の中央値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（平均は575万円）</a:t>
            </a:r>
            <a:endParaRPr lang="en-US" sz="1200" dirty="0"/>
          </a:p>
        </p:txBody>
      </p:sp>
      <p:sp>
        <p:nvSpPr>
          <p:cNvPr id="7" name="card-29"/>
          <p:cNvSpPr/>
          <p:nvPr/>
        </p:nvSpPr>
        <p:spPr>
          <a:xfrm>
            <a:off x="3355848" y="160020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-30"/>
          <p:cNvSpPr txBox="1"/>
          <p:nvPr/>
        </p:nvSpPr>
        <p:spPr>
          <a:xfrm>
            <a:off x="3584448" y="1783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61.5%</a:t>
            </a:r>
            <a:endParaRPr lang="en-US" sz="3400" dirty="0"/>
          </a:p>
        </p:txBody>
      </p:sp>
      <p:sp>
        <p:nvSpPr>
          <p:cNvPr id="9" name="text-31"/>
          <p:cNvSpPr txBox="1"/>
          <p:nvPr/>
        </p:nvSpPr>
        <p:spPr>
          <a:xfrm>
            <a:off x="3584448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平均所得を下回る世帯の割合</a:t>
            </a:r>
            <a:endParaRPr lang="en-US" sz="1200" dirty="0"/>
          </a:p>
        </p:txBody>
      </p:sp>
      <p:sp>
        <p:nvSpPr>
          <p:cNvPr id="10" name="card-32"/>
          <p:cNvSpPr/>
          <p:nvPr/>
        </p:nvSpPr>
        <p:spPr>
          <a:xfrm>
            <a:off x="6163056" y="160020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-33"/>
          <p:cNvSpPr txBox="1"/>
          <p:nvPr/>
        </p:nvSpPr>
        <p:spPr>
          <a:xfrm>
            <a:off x="6391656" y="1783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−1.3%</a:t>
            </a:r>
            <a:endParaRPr lang="en-US" sz="3400" dirty="0"/>
          </a:p>
        </p:txBody>
      </p:sp>
      <p:sp>
        <p:nvSpPr>
          <p:cNvPr id="12" name="text-34"/>
          <p:cNvSpPr txBox="1"/>
          <p:nvPr/>
        </p:nvSpPr>
        <p:spPr>
          <a:xfrm>
            <a:off x="6391656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2025年の実質賃金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4年連続のマイナス</a:t>
            </a:r>
            <a:endParaRPr lang="en-US" sz="1200" dirty="0"/>
          </a:p>
        </p:txBody>
      </p:sp>
      <p:sp>
        <p:nvSpPr>
          <p:cNvPr id="13" name="card-35"/>
          <p:cNvSpPr/>
          <p:nvPr/>
        </p:nvSpPr>
        <p:spPr>
          <a:xfrm>
            <a:off x="8970264" y="160020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-36"/>
          <p:cNvSpPr txBox="1"/>
          <p:nvPr/>
        </p:nvSpPr>
        <p:spPr>
          <a:xfrm>
            <a:off x="9198864" y="1783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−30%</a:t>
            </a:r>
            <a:endParaRPr lang="en-US" sz="3400" dirty="0"/>
          </a:p>
        </p:txBody>
      </p:sp>
      <p:sp>
        <p:nvSpPr>
          <p:cNvPr id="15" name="text-37"/>
          <p:cNvSpPr txBox="1"/>
          <p:nvPr/>
        </p:nvSpPr>
        <p:spPr>
          <a:xfrm>
            <a:off x="9198864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持家の新築着工（約）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2021年比（2025年度）</a:t>
            </a:r>
            <a:endParaRPr lang="en-US" sz="1200" dirty="0"/>
          </a:p>
        </p:txBody>
      </p:sp>
      <p:graphicFrame>
        <p:nvGraphicFramePr>
          <p:cNvPr id="7" name="table-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023360"/>
                <a:gridCol w="3749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世帯タイプ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行動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当社にとっての意味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0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624"/>
                          </a:solidFill>
                        </a:rPr>
                        <a:t>高所得層（年収1,000万円〜）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新築と高額リノベの両方を検討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デザイン性・提案力で選ばれる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624"/>
                          </a:solidFill>
                        </a:rPr>
                        <a:t>中間層（400〜800万円）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624"/>
                          </a:solidFill>
                        </a:rPr>
                        <a:t>新築をあきらめ「今の家を直す」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624"/>
                          </a:solidFill>
                        </a:rPr>
                        <a:t>最大のボリュームゾーン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624"/>
                          </a:solidFill>
                        </a:rPr>
                        <a:t>低所得層・高齢世帯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壊れたら直す（必要最低限）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水回り・給湯器の交換需要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-39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671"/>
                </a:solidFill>
              </a:rPr>
              <a:t>出典：厚労省 2025年国民生活基礎調査（2024年の所得）、毎月勤労統計、国交省 住宅着工統計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地域：大都市圏は横ばいに近く、地方の減少が最大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首都圏は「中古＋リノベ＋インテリア」、地方は「水回り・断熱の交換」</a:t>
            </a:r>
            <a:endParaRPr lang="en-US" sz="1500" dirty="0"/>
          </a:p>
        </p:txBody>
      </p:sp>
      <p:graphicFrame>
        <p:nvGraphicFramePr>
          <p:cNvPr id="4" name="chart-regional" descr=""/>
          <p:cNvGraphicFramePr/>
          <p:nvPr/>
        </p:nvGraphicFramePr>
        <p:xfrm>
          <a:off x="548640" y="1600200"/>
          <a:ext cx="49377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-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600200"/>
          <a:ext cx="58521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468880"/>
                <a:gridCol w="2286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地域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主なリフォーム需要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打ち手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0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624"/>
                          </a:solidFill>
                        </a:rPr>
                        <a:t>首都圏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624"/>
                          </a:solidFill>
                        </a:rPr>
                        <a:t>中古マンション購入＋リノベ、水回り一式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624"/>
                          </a:solidFill>
                        </a:rPr>
                        <a:t>購入・リノベ・家具をまとめて提案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624"/>
                          </a:solidFill>
                        </a:rPr>
                        <a:t>近畿圏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624"/>
                          </a:solidFill>
                        </a:rPr>
                        <a:t>マンションの内装・水回り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624"/>
                          </a:solidFill>
                        </a:rPr>
                        <a:t>入居時オプションと家具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624"/>
                          </a:solidFill>
                        </a:rPr>
                        <a:t>中部圏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624"/>
                          </a:solidFill>
                        </a:rPr>
                        <a:t>戸建ての水回り・外装、二世帯化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624"/>
                          </a:solidFill>
                        </a:rPr>
                        <a:t>外装と水回りのセット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624"/>
                          </a:solidFill>
                        </a:rPr>
                        <a:t>地方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624"/>
                          </a:solidFill>
                        </a:rPr>
                        <a:t>給湯器・浴室、断熱窓、実家の改修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624"/>
                          </a:solidFill>
                        </a:rPr>
                        <a:t>補助金活用、定額パック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</a:tr>
            </a:tbl>
          </a:graphicData>
        </a:graphic>
      </p:graphicFrame>
      <p:sp>
        <p:nvSpPr>
          <p:cNvPr id="6" name="text-41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671"/>
                </a:solidFill>
              </a:rPr>
              <a:t>出典：国交省 住宅着工統計（2025年暦年）。その他地域は全国計から三大都市圏を差し引いて算出。需要と打ち手は仮説。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SWOT（2026年時点）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強みは「内装・家具・設備をまとめて提案できる」こと</a:t>
            </a:r>
            <a:endParaRPr lang="en-US" sz="1500" dirty="0"/>
          </a:p>
        </p:txBody>
      </p:sp>
      <p:sp>
        <p:nvSpPr>
          <p:cNvPr id="4" name="card-42"/>
          <p:cNvSpPr/>
          <p:nvPr/>
        </p:nvSpPr>
        <p:spPr>
          <a:xfrm>
            <a:off x="548640" y="160020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dot-43"/>
          <p:cNvSpPr/>
          <p:nvPr/>
        </p:nvSpPr>
        <p:spPr>
          <a:xfrm>
            <a:off x="777240" y="180136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-44"/>
          <p:cNvSpPr txBox="1"/>
          <p:nvPr/>
        </p:nvSpPr>
        <p:spPr>
          <a:xfrm>
            <a:off x="77724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</a:t>
            </a:r>
            <a:endParaRPr lang="en-US" sz="1800" dirty="0"/>
          </a:p>
        </p:txBody>
      </p:sp>
      <p:sp>
        <p:nvSpPr>
          <p:cNvPr id="7" name="text-45"/>
          <p:cNvSpPr txBox="1"/>
          <p:nvPr/>
        </p:nvSpPr>
        <p:spPr>
          <a:xfrm>
            <a:off x="1371600" y="18013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強み</a:t>
            </a:r>
            <a:endParaRPr lang="en-US" sz="1800" dirty="0"/>
          </a:p>
        </p:txBody>
      </p:sp>
      <p:sp>
        <p:nvSpPr>
          <p:cNvPr id="8" name="text-46"/>
          <p:cNvSpPr txBox="1"/>
          <p:nvPr/>
        </p:nvSpPr>
        <p:spPr>
          <a:xfrm>
            <a:off x="868680" y="237744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インテリアとリフォームを一体で提案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店舗で実物を見せられる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家具・内装・設備をまとめて扱える</a:t>
            </a:r>
            <a:endParaRPr lang="en-US" sz="1300" dirty="0"/>
          </a:p>
        </p:txBody>
      </p:sp>
      <p:sp>
        <p:nvSpPr>
          <p:cNvPr id="9" name="card-47"/>
          <p:cNvSpPr/>
          <p:nvPr/>
        </p:nvSpPr>
        <p:spPr>
          <a:xfrm>
            <a:off x="6172200" y="160020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dot-48"/>
          <p:cNvSpPr/>
          <p:nvPr/>
        </p:nvSpPr>
        <p:spPr>
          <a:xfrm>
            <a:off x="6400800" y="1801368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-49"/>
          <p:cNvSpPr txBox="1"/>
          <p:nvPr/>
        </p:nvSpPr>
        <p:spPr>
          <a:xfrm>
            <a:off x="640080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</a:t>
            </a:r>
            <a:endParaRPr lang="en-US" sz="1800" dirty="0"/>
          </a:p>
        </p:txBody>
      </p:sp>
      <p:sp>
        <p:nvSpPr>
          <p:cNvPr id="12" name="text-50"/>
          <p:cNvSpPr txBox="1"/>
          <p:nvPr/>
        </p:nvSpPr>
        <p:spPr>
          <a:xfrm>
            <a:off x="6995160" y="18013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弱み</a:t>
            </a:r>
            <a:endParaRPr lang="en-US" sz="1800" dirty="0"/>
          </a:p>
        </p:txBody>
      </p:sp>
      <p:sp>
        <p:nvSpPr>
          <p:cNvPr id="13" name="text-51"/>
          <p:cNvSpPr txBox="1"/>
          <p:nvPr/>
        </p:nvSpPr>
        <p:spPr>
          <a:xfrm>
            <a:off x="6492240" y="237744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職人・施工力に限りがある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資材高で見積もりが上がりやすい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提案から成約まで時間がかかる</a:t>
            </a:r>
            <a:endParaRPr lang="en-US" sz="1300" dirty="0"/>
          </a:p>
        </p:txBody>
      </p:sp>
      <p:sp>
        <p:nvSpPr>
          <p:cNvPr id="14" name="card-52"/>
          <p:cNvSpPr/>
          <p:nvPr/>
        </p:nvSpPr>
        <p:spPr>
          <a:xfrm>
            <a:off x="548640" y="388620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dot-53"/>
          <p:cNvSpPr/>
          <p:nvPr/>
        </p:nvSpPr>
        <p:spPr>
          <a:xfrm>
            <a:off x="777240" y="408736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-54"/>
          <p:cNvSpPr txBox="1"/>
          <p:nvPr/>
        </p:nvSpPr>
        <p:spPr>
          <a:xfrm>
            <a:off x="77724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</a:t>
            </a:r>
            <a:endParaRPr lang="en-US" sz="1800" dirty="0"/>
          </a:p>
        </p:txBody>
      </p:sp>
      <p:sp>
        <p:nvSpPr>
          <p:cNvPr id="17" name="text-55"/>
          <p:cNvSpPr txBox="1"/>
          <p:nvPr/>
        </p:nvSpPr>
        <p:spPr>
          <a:xfrm>
            <a:off x="1371600" y="40873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機会</a:t>
            </a:r>
            <a:endParaRPr lang="en-US" sz="1800" dirty="0"/>
          </a:p>
        </p:txBody>
      </p:sp>
      <p:sp>
        <p:nvSpPr>
          <p:cNvPr id="18" name="text-56"/>
          <p:cNvSpPr txBox="1"/>
          <p:nvPr/>
        </p:nvSpPr>
        <p:spPr>
          <a:xfrm>
            <a:off x="868680" y="466344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新築離れで「直して住む」へ移行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築20年超の水回り交換時期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省エネ・断熱の補助金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情報はあるが「選べない」人が多い</a:t>
            </a:r>
            <a:endParaRPr lang="en-US" sz="1300" dirty="0"/>
          </a:p>
        </p:txBody>
      </p:sp>
      <p:sp>
        <p:nvSpPr>
          <p:cNvPr id="19" name="card-57"/>
          <p:cNvSpPr/>
          <p:nvPr/>
        </p:nvSpPr>
        <p:spPr>
          <a:xfrm>
            <a:off x="6172200" y="388620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dot-58"/>
          <p:cNvSpPr/>
          <p:nvPr/>
        </p:nvSpPr>
        <p:spPr>
          <a:xfrm>
            <a:off x="6400800" y="40873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-59"/>
          <p:cNvSpPr txBox="1"/>
          <p:nvPr/>
        </p:nvSpPr>
        <p:spPr>
          <a:xfrm>
            <a:off x="640080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</a:t>
            </a:r>
            <a:endParaRPr lang="en-US" sz="1800" dirty="0"/>
          </a:p>
        </p:txBody>
      </p:sp>
      <p:sp>
        <p:nvSpPr>
          <p:cNvPr id="22" name="text-60"/>
          <p:cNvSpPr txBox="1"/>
          <p:nvPr/>
        </p:nvSpPr>
        <p:spPr>
          <a:xfrm>
            <a:off x="6995160" y="40873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脅威</a:t>
            </a:r>
            <a:endParaRPr lang="en-US" sz="1800" dirty="0"/>
          </a:p>
        </p:txBody>
      </p:sp>
      <p:sp>
        <p:nvSpPr>
          <p:cNvPr id="23" name="text-61"/>
          <p:cNvSpPr txBox="1"/>
          <p:nvPr/>
        </p:nvSpPr>
        <p:spPr>
          <a:xfrm>
            <a:off x="6492240" y="466344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実質賃金のマイナスで予算が抑えられる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ホームセンター・ネット専業の低価格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職人の高齢化・人手不足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金利上昇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2. 顧客と予算：水回りが入口になる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中古購入の増加、水回りの交換サイクル、払える予算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中古住宅の購入は増え、購入時の約7割がリフォームする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新築が高くなるほど「中古＋リフォーム」が選ばれる（特に首都圏）</a:t>
            </a:r>
            <a:endParaRPr lang="en-US" sz="1500" dirty="0"/>
          </a:p>
        </p:txBody>
      </p:sp>
      <p:sp>
        <p:nvSpPr>
          <p:cNvPr id="4" name="card-62"/>
          <p:cNvSpPr/>
          <p:nvPr/>
        </p:nvSpPr>
        <p:spPr>
          <a:xfrm>
            <a:off x="548640" y="160020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63"/>
          <p:cNvSpPr txBox="1"/>
          <p:nvPr/>
        </p:nvSpPr>
        <p:spPr>
          <a:xfrm>
            <a:off x="777240" y="1783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4.9万件</a:t>
            </a:r>
            <a:endParaRPr lang="en-US" sz="3400" dirty="0"/>
          </a:p>
        </p:txBody>
      </p:sp>
      <p:sp>
        <p:nvSpPr>
          <p:cNvPr id="6" name="text-64"/>
          <p:cNvSpPr txBox="1"/>
          <p:nvPr/>
        </p:nvSpPr>
        <p:spPr>
          <a:xfrm>
            <a:off x="777240" y="2560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2025年 首都圏の中古マンション成約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前年比 +31.9%（3年連続の増加）</a:t>
            </a:r>
            <a:endParaRPr lang="en-US" sz="1200" dirty="0"/>
          </a:p>
        </p:txBody>
      </p:sp>
      <p:sp>
        <p:nvSpPr>
          <p:cNvPr id="7" name="card-65"/>
          <p:cNvSpPr/>
          <p:nvPr/>
        </p:nvSpPr>
        <p:spPr>
          <a:xfrm>
            <a:off x="4306824" y="160020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-66"/>
          <p:cNvSpPr txBox="1"/>
          <p:nvPr/>
        </p:nvSpPr>
        <p:spPr>
          <a:xfrm>
            <a:off x="4535424" y="1783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2.2万件</a:t>
            </a:r>
            <a:endParaRPr lang="en-US" sz="3400" dirty="0"/>
          </a:p>
        </p:txBody>
      </p:sp>
      <p:sp>
        <p:nvSpPr>
          <p:cNvPr id="9" name="text-67"/>
          <p:cNvSpPr txBox="1"/>
          <p:nvPr/>
        </p:nvSpPr>
        <p:spPr>
          <a:xfrm>
            <a:off x="4535424" y="2560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2025年 首都圏の中古戸建て成約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前年比 +52.5%</a:t>
            </a:r>
            <a:endParaRPr lang="en-US" sz="1200" dirty="0"/>
          </a:p>
        </p:txBody>
      </p:sp>
      <p:sp>
        <p:nvSpPr>
          <p:cNvPr id="10" name="card-68"/>
          <p:cNvSpPr/>
          <p:nvPr/>
        </p:nvSpPr>
        <p:spPr>
          <a:xfrm>
            <a:off x="8065008" y="160020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-69"/>
          <p:cNvSpPr txBox="1"/>
          <p:nvPr/>
        </p:nvSpPr>
        <p:spPr>
          <a:xfrm>
            <a:off x="8293608" y="1783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</a:rPr>
              <a:t>約7割</a:t>
            </a:r>
            <a:endParaRPr lang="en-US" sz="3400" dirty="0"/>
          </a:p>
        </p:txBody>
      </p:sp>
      <p:sp>
        <p:nvSpPr>
          <p:cNvPr id="12" name="text-70"/>
          <p:cNvSpPr txBox="1"/>
          <p:nvPr/>
        </p:nvSpPr>
        <p:spPr>
          <a:xfrm>
            <a:off x="8293608" y="2560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中古購入と同時に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何らかのリフォームを実施</a:t>
            </a:r>
            <a:endParaRPr lang="en-US" sz="1200" dirty="0"/>
          </a:p>
        </p:txBody>
      </p:sp>
      <p:sp>
        <p:nvSpPr>
          <p:cNvPr id="13" name="card-71"/>
          <p:cNvSpPr/>
          <p:nvPr/>
        </p:nvSpPr>
        <p:spPr>
          <a:xfrm>
            <a:off x="548640" y="3429000"/>
            <a:ext cx="1106424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-72"/>
          <p:cNvSpPr txBox="1"/>
          <p:nvPr/>
        </p:nvSpPr>
        <p:spPr>
          <a:xfrm>
            <a:off x="86868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読み取れること</a:t>
            </a:r>
            <a:endParaRPr lang="en-US" sz="1500" dirty="0"/>
          </a:p>
        </p:txBody>
      </p:sp>
      <p:sp>
        <p:nvSpPr>
          <p:cNvPr id="15" name="text-73"/>
          <p:cNvSpPr txBox="1"/>
          <p:nvPr/>
        </p:nvSpPr>
        <p:spPr>
          <a:xfrm>
            <a:off x="868680" y="406908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中古マンションを選んだ理由は「予算的に手頃だった」が75.7%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全国の既存住宅流通量は2030年に19万戸へ増える見込み（野村総研）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購入前から相談に乗れれば、水回り・内装・家具をまとめて受注できる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不動産会社との提携が、第2ターゲットの入口になる</a:t>
            </a:r>
            <a:endParaRPr lang="en-US" sz="1500" dirty="0"/>
          </a:p>
        </p:txBody>
      </p:sp>
      <p:sp>
        <p:nvSpPr>
          <p:cNvPr id="16" name="text-74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671"/>
                </a:solidFill>
              </a:rPr>
              <a:t>出典：東日本レインズ（2025年）、国交省 令和6年度 住宅市場動向調査、野村総合研究所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水回りを入口にした受注は全国で年 約32万件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そのうち約5万件が大型リノベに進む（全国・試算）</a:t>
            </a:r>
            <a:endParaRPr lang="en-US" sz="1500" dirty="0"/>
          </a:p>
        </p:txBody>
      </p:sp>
      <p:graphicFrame>
        <p:nvGraphicFramePr>
          <p:cNvPr id="4" name="chart-funnel" descr=""/>
          <p:cNvGraphicFramePr/>
          <p:nvPr/>
        </p:nvGraphicFramePr>
        <p:xfrm>
          <a:off x="548640" y="1600200"/>
          <a:ext cx="74980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-75"/>
          <p:cNvSpPr/>
          <p:nvPr/>
        </p:nvSpPr>
        <p:spPr>
          <a:xfrm>
            <a:off x="8321040" y="1600200"/>
            <a:ext cx="32918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76"/>
          <p:cNvSpPr txBox="1"/>
          <p:nvPr/>
        </p:nvSpPr>
        <p:spPr>
          <a:xfrm>
            <a:off x="8549640" y="17830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約32万件</a:t>
            </a:r>
            <a:endParaRPr lang="en-US" sz="3400" dirty="0"/>
          </a:p>
        </p:txBody>
      </p:sp>
      <p:sp>
        <p:nvSpPr>
          <p:cNvPr id="7" name="text-77"/>
          <p:cNvSpPr txBox="1"/>
          <p:nvPr/>
        </p:nvSpPr>
        <p:spPr>
          <a:xfrm>
            <a:off x="8549640" y="2560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入口（水回り＋中古購入時）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市場規模 年 約6,500億円</a:t>
            </a:r>
            <a:endParaRPr lang="en-US" sz="1200" dirty="0"/>
          </a:p>
        </p:txBody>
      </p:sp>
      <p:sp>
        <p:nvSpPr>
          <p:cNvPr id="8" name="card-78"/>
          <p:cNvSpPr/>
          <p:nvPr/>
        </p:nvSpPr>
        <p:spPr>
          <a:xfrm>
            <a:off x="8321040" y="3383280"/>
            <a:ext cx="32918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-79"/>
          <p:cNvSpPr txBox="1"/>
          <p:nvPr/>
        </p:nvSpPr>
        <p:spPr>
          <a:xfrm>
            <a:off x="8549640" y="35661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</a:rPr>
              <a:t>約5万件</a:t>
            </a:r>
            <a:endParaRPr lang="en-US" sz="3400" dirty="0"/>
          </a:p>
        </p:txBody>
      </p:sp>
      <p:sp>
        <p:nvSpPr>
          <p:cNvPr id="10" name="text-80"/>
          <p:cNvSpPr txBox="1"/>
          <p:nvPr/>
        </p:nvSpPr>
        <p:spPr>
          <a:xfrm>
            <a:off x="8549640" y="4343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大型リノベに進む件数（15%）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市場規模 年 約2,300億円</a:t>
            </a:r>
            <a:endParaRPr lang="en-US" sz="1200" dirty="0"/>
          </a:p>
        </p:txBody>
      </p:sp>
      <p:sp>
        <p:nvSpPr>
          <p:cNvPr id="11" name="text-81"/>
          <p:cNvSpPr txBox="1"/>
          <p:nvPr/>
        </p:nvSpPr>
        <p:spPr>
          <a:xfrm>
            <a:off x="8321040" y="5120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450"/>
                </a:solidFill>
              </a:rPr>
              <a:t>築10〜15年の持家は約330万戸。年6%が改修（5年間で持家の28.8%）</a:t>
            </a:r>
            <a:endParaRPr lang="en-US" sz="1100" dirty="0"/>
          </a:p>
        </p:txBody>
      </p:sp>
      <p:sp>
        <p:nvSpPr>
          <p:cNvPr id="12" name="text-82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671"/>
                </a:solidFill>
              </a:rPr>
              <a:t>試算：住宅・土地統計調査2023、国交省 住宅市場動向調査、野村総研の既存住宅流通量予測をもとに算出。築年別の戸数は着工数の概数、転換率15%は仮定。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水回りの予算は「約200万円」が妥当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10年使う前提なら、年収500〜600万円の世帯でも月2万円以内</a:t>
            </a:r>
            <a:endParaRPr lang="en-US" sz="1500" dirty="0"/>
          </a:p>
        </p:txBody>
      </p:sp>
      <p:graphicFrame>
        <p:nvGraphicFramePr>
          <p:cNvPr id="13" name="table-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675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2286000"/>
                <a:gridCol w="1280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世帯年収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手取り（概算）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出せる上限（10年割で手取りの5%）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月あたり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0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624"/>
                          </a:solidFill>
                        </a:rPr>
                        <a:t>500万円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約390万円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624"/>
                          </a:solidFill>
                        </a:rPr>
                        <a:t>約195万円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約1.6万円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624"/>
                          </a:solidFill>
                        </a:rPr>
                        <a:t>600万円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約460万円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624"/>
                          </a:solidFill>
                        </a:rPr>
                        <a:t>約230万円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約1.9万円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624"/>
                          </a:solidFill>
                        </a:rPr>
                        <a:t>700万円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約530万円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約265万円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約2.2万円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624"/>
                          </a:solidFill>
                        </a:rPr>
                        <a:t>800万円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約600万円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約300万円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約2.5万円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-budget" descr=""/>
          <p:cNvGraphicFramePr/>
          <p:nvPr/>
        </p:nvGraphicFramePr>
        <p:xfrm>
          <a:off x="7498080" y="1600200"/>
          <a:ext cx="41148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-84"/>
          <p:cNvSpPr/>
          <p:nvPr/>
        </p:nvSpPr>
        <p:spPr>
          <a:xfrm>
            <a:off x="548640" y="4343400"/>
            <a:ext cx="667512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-85"/>
          <p:cNvSpPr txBox="1"/>
          <p:nvPr/>
        </p:nvSpPr>
        <p:spPr>
          <a:xfrm>
            <a:off x="822960" y="452628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水回り4点の相場は120〜250万円（ミドルグレードで約200万円）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年収700万円以上なら、内装（床・壁）も加えて250〜300万円まで提案できる</a:t>
            </a:r>
            <a:endParaRPr lang="en-US" sz="1400" dirty="0"/>
          </a:p>
        </p:txBody>
      </p:sp>
      <p:sp>
        <p:nvSpPr>
          <p:cNvPr id="8" name="text-86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671"/>
                </a:solidFill>
              </a:rPr>
              <a:t>試算：手取りの5%を上限と仮定。予算は2024年の相場（水回り190万円、リ推協の実施平均434万円）から年2.5%の単価上昇で延伸。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3. 戦略：水回りで接点、コーディネートで利益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ターゲット、5年ロードマップ、利益モデル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ターゲットは「築10〜15年の持家」に絞る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第2に中古購入者。高齢世帯は接点として使い、最安値層は追わない</a:t>
            </a:r>
            <a:endParaRPr lang="en-US" sz="1500" dirty="0"/>
          </a:p>
        </p:txBody>
      </p:sp>
      <p:sp>
        <p:nvSpPr>
          <p:cNvPr id="4" name="card-87"/>
          <p:cNvSpPr/>
          <p:nvPr/>
        </p:nvSpPr>
        <p:spPr>
          <a:xfrm>
            <a:off x="548640" y="1600200"/>
            <a:ext cx="2651760" cy="42976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ark-88"/>
          <p:cNvSpPr/>
          <p:nvPr/>
        </p:nvSpPr>
        <p:spPr>
          <a:xfrm>
            <a:off x="731520" y="1783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-89"/>
          <p:cNvSpPr txBox="1"/>
          <p:nvPr/>
        </p:nvSpPr>
        <p:spPr>
          <a:xfrm>
            <a:off x="73152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◎</a:t>
            </a:r>
            <a:endParaRPr lang="en-US" sz="2600" dirty="0"/>
          </a:p>
        </p:txBody>
      </p:sp>
      <p:sp>
        <p:nvSpPr>
          <p:cNvPr id="7" name="text-90"/>
          <p:cNvSpPr txBox="1"/>
          <p:nvPr/>
        </p:nvSpPr>
        <p:spPr>
          <a:xfrm>
            <a:off x="1600200" y="18745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最優先</a:t>
            </a:r>
            <a:endParaRPr lang="en-US" sz="1600" dirty="0"/>
          </a:p>
        </p:txBody>
      </p:sp>
      <p:sp>
        <p:nvSpPr>
          <p:cNvPr id="8" name="text-91"/>
          <p:cNvSpPr txBox="1"/>
          <p:nvPr/>
        </p:nvSpPr>
        <p:spPr>
          <a:xfrm>
            <a:off x="731520" y="2743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築10〜15年の持家</a:t>
            </a:r>
            <a:endParaRPr lang="en-US" sz="1800" dirty="0"/>
          </a:p>
        </p:txBody>
      </p:sp>
      <p:sp>
        <p:nvSpPr>
          <p:cNvPr id="9" name="text-92"/>
          <p:cNvSpPr txBox="1"/>
          <p:nvPr/>
        </p:nvSpPr>
        <p:spPr>
          <a:xfrm>
            <a:off x="731520" y="35204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40〜50代・年収600〜800万円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全国 年約20万件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水回り約200万円＋内装・家具</a:t>
            </a:r>
            <a:endParaRPr lang="en-US" sz="1250" dirty="0"/>
          </a:p>
        </p:txBody>
      </p:sp>
      <p:sp>
        <p:nvSpPr>
          <p:cNvPr id="10" name="card-93"/>
          <p:cNvSpPr/>
          <p:nvPr/>
        </p:nvSpPr>
        <p:spPr>
          <a:xfrm>
            <a:off x="3364992" y="1600200"/>
            <a:ext cx="2651760" cy="42976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mark-94"/>
          <p:cNvSpPr/>
          <p:nvPr/>
        </p:nvSpPr>
        <p:spPr>
          <a:xfrm>
            <a:off x="3547872" y="178308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-95"/>
          <p:cNvSpPr txBox="1"/>
          <p:nvPr/>
        </p:nvSpPr>
        <p:spPr>
          <a:xfrm>
            <a:off x="3547872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○</a:t>
            </a:r>
            <a:endParaRPr lang="en-US" sz="2600" dirty="0"/>
          </a:p>
        </p:txBody>
      </p:sp>
      <p:sp>
        <p:nvSpPr>
          <p:cNvPr id="13" name="text-96"/>
          <p:cNvSpPr txBox="1"/>
          <p:nvPr/>
        </p:nvSpPr>
        <p:spPr>
          <a:xfrm>
            <a:off x="4416552" y="18745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第2</a:t>
            </a:r>
            <a:endParaRPr lang="en-US" sz="1600" dirty="0"/>
          </a:p>
        </p:txBody>
      </p:sp>
      <p:sp>
        <p:nvSpPr>
          <p:cNvPr id="14" name="text-97"/>
          <p:cNvSpPr txBox="1"/>
          <p:nvPr/>
        </p:nvSpPr>
        <p:spPr>
          <a:xfrm>
            <a:off x="3547872" y="2743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中古購入者</a:t>
            </a:r>
            <a:endParaRPr lang="en-US" sz="1800" dirty="0"/>
          </a:p>
        </p:txBody>
      </p:sp>
      <p:sp>
        <p:nvSpPr>
          <p:cNvPr id="15" name="text-98"/>
          <p:cNvSpPr txBox="1"/>
          <p:nvPr/>
        </p:nvSpPr>
        <p:spPr>
          <a:xfrm>
            <a:off x="3547872" y="35204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30〜40代・首都圏で増加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全国 年約13万件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1件400〜500万円＋家具</a:t>
            </a:r>
            <a:endParaRPr lang="en-US" sz="1250" dirty="0"/>
          </a:p>
        </p:txBody>
      </p:sp>
      <p:sp>
        <p:nvSpPr>
          <p:cNvPr id="16" name="card-99"/>
          <p:cNvSpPr/>
          <p:nvPr/>
        </p:nvSpPr>
        <p:spPr>
          <a:xfrm>
            <a:off x="6181344" y="1600200"/>
            <a:ext cx="2651760" cy="42976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mark-100"/>
          <p:cNvSpPr/>
          <p:nvPr/>
        </p:nvSpPr>
        <p:spPr>
          <a:xfrm>
            <a:off x="6364224" y="17830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-101"/>
          <p:cNvSpPr txBox="1"/>
          <p:nvPr/>
        </p:nvSpPr>
        <p:spPr>
          <a:xfrm>
            <a:off x="6364224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△</a:t>
            </a:r>
            <a:endParaRPr lang="en-US" sz="2600" dirty="0"/>
          </a:p>
        </p:txBody>
      </p:sp>
      <p:sp>
        <p:nvSpPr>
          <p:cNvPr id="19" name="text-102"/>
          <p:cNvSpPr txBox="1"/>
          <p:nvPr/>
        </p:nvSpPr>
        <p:spPr>
          <a:xfrm>
            <a:off x="7232904" y="18745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維持</a:t>
            </a:r>
            <a:endParaRPr lang="en-US" sz="1600" dirty="0"/>
          </a:p>
        </p:txBody>
      </p:sp>
      <p:sp>
        <p:nvSpPr>
          <p:cNvPr id="20" name="text-103"/>
          <p:cNvSpPr txBox="1"/>
          <p:nvPr/>
        </p:nvSpPr>
        <p:spPr>
          <a:xfrm>
            <a:off x="6364224" y="2743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築20年超・高齢世帯</a:t>
            </a:r>
            <a:endParaRPr lang="en-US" sz="1800" dirty="0"/>
          </a:p>
        </p:txBody>
      </p:sp>
      <p:sp>
        <p:nvSpPr>
          <p:cNvPr id="21" name="text-104"/>
          <p:cNvSpPr txBox="1"/>
          <p:nvPr/>
        </p:nvSpPr>
        <p:spPr>
          <a:xfrm>
            <a:off x="6364224" y="35204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給湯器・トイレの交換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20〜50万円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集客の接点として使う</a:t>
            </a:r>
            <a:endParaRPr lang="en-US" sz="1250" dirty="0"/>
          </a:p>
        </p:txBody>
      </p:sp>
      <p:sp>
        <p:nvSpPr>
          <p:cNvPr id="22" name="card-105"/>
          <p:cNvSpPr/>
          <p:nvPr/>
        </p:nvSpPr>
        <p:spPr>
          <a:xfrm>
            <a:off x="8997696" y="1600200"/>
            <a:ext cx="2651760" cy="42976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mark-106"/>
          <p:cNvSpPr/>
          <p:nvPr/>
        </p:nvSpPr>
        <p:spPr>
          <a:xfrm>
            <a:off x="9180576" y="178308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-107"/>
          <p:cNvSpPr txBox="1"/>
          <p:nvPr/>
        </p:nvSpPr>
        <p:spPr>
          <a:xfrm>
            <a:off x="9180576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×</a:t>
            </a:r>
            <a:endParaRPr lang="en-US" sz="2600" dirty="0"/>
          </a:p>
        </p:txBody>
      </p:sp>
      <p:sp>
        <p:nvSpPr>
          <p:cNvPr id="25" name="text-108"/>
          <p:cNvSpPr txBox="1"/>
          <p:nvPr/>
        </p:nvSpPr>
        <p:spPr>
          <a:xfrm>
            <a:off x="10049256" y="18745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対象外</a:t>
            </a:r>
            <a:endParaRPr lang="en-US" sz="1600" dirty="0"/>
          </a:p>
        </p:txBody>
      </p:sp>
      <p:sp>
        <p:nvSpPr>
          <p:cNvPr id="26" name="text-109"/>
          <p:cNvSpPr txBox="1"/>
          <p:nvPr/>
        </p:nvSpPr>
        <p:spPr>
          <a:xfrm>
            <a:off x="9180576" y="2743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単品の最安値層</a:t>
            </a:r>
            <a:endParaRPr lang="en-US" sz="1800" dirty="0"/>
          </a:p>
        </p:txBody>
      </p:sp>
      <p:sp>
        <p:nvSpPr>
          <p:cNvPr id="27" name="text-110"/>
          <p:cNvSpPr txBox="1"/>
          <p:nvPr/>
        </p:nvSpPr>
        <p:spPr>
          <a:xfrm>
            <a:off x="9180576" y="35204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ホームセンター・ネット専業との価格競争になる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5年ロードマップ：入口 → 単価アップ → 利益の柱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毎年1つずつサービスを積み上げる</a:t>
            </a:r>
            <a:endParaRPr lang="en-US" sz="1500" dirty="0"/>
          </a:p>
        </p:txBody>
      </p:sp>
      <p:sp>
        <p:nvSpPr>
          <p:cNvPr id="4" name="timeline"/>
          <p:cNvSpPr/>
          <p:nvPr/>
        </p:nvSpPr>
        <p:spPr>
          <a:xfrm>
            <a:off x="822960" y="2148840"/>
            <a:ext cx="10515600" cy="0"/>
          </a:xfrm>
          <a:prstGeom prst="line">
            <a:avLst/>
          </a:prstGeom>
          <a:noFill/>
          <a:ln w="25400">
            <a:solidFill>
              <a:srgbClr val="A8B9B0"/>
            </a:solidFill>
            <a:prstDash val="solid"/>
          </a:ln>
        </p:spPr>
      </p:sp>
      <p:sp>
        <p:nvSpPr>
          <p:cNvPr id="5" name="node-111"/>
          <p:cNvSpPr/>
          <p:nvPr/>
        </p:nvSpPr>
        <p:spPr>
          <a:xfrm>
            <a:off x="1325880" y="1874520"/>
            <a:ext cx="548640" cy="548640"/>
          </a:xfrm>
          <a:prstGeom prst="ellipse">
            <a:avLst/>
          </a:prstGeom>
          <a:solidFill>
            <a:srgbClr val="C062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-112"/>
          <p:cNvSpPr txBox="1"/>
          <p:nvPr/>
        </p:nvSpPr>
        <p:spPr>
          <a:xfrm>
            <a:off x="548640" y="1463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2026</a:t>
            </a:r>
            <a:endParaRPr lang="en-US" sz="1500" dirty="0"/>
          </a:p>
        </p:txBody>
      </p:sp>
      <p:sp>
        <p:nvSpPr>
          <p:cNvPr id="7" name="card-113"/>
          <p:cNvSpPr/>
          <p:nvPr/>
        </p:nvSpPr>
        <p:spPr>
          <a:xfrm>
            <a:off x="548640" y="2697480"/>
            <a:ext cx="2103120" cy="32004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-114"/>
          <p:cNvSpPr txBox="1"/>
          <p:nvPr/>
        </p:nvSpPr>
        <p:spPr>
          <a:xfrm>
            <a:off x="685800" y="2834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水回り4点の定額パック</a:t>
            </a:r>
            <a:endParaRPr lang="en-US" sz="1500" dirty="0"/>
          </a:p>
        </p:txBody>
      </p:sp>
      <p:sp>
        <p:nvSpPr>
          <p:cNvPr id="9" name="text-115"/>
          <p:cNvSpPr txBox="1"/>
          <p:nvPr/>
        </p:nvSpPr>
        <p:spPr>
          <a:xfrm>
            <a:off x="685800" y="36118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150／200／250万円の3グレード＋無料のコーディネート診断</a:t>
            </a:r>
            <a:endParaRPr lang="en-US" sz="1200" dirty="0"/>
          </a:p>
        </p:txBody>
      </p:sp>
      <p:sp>
        <p:nvSpPr>
          <p:cNvPr id="10" name="text-116"/>
          <p:cNvSpPr txBox="1"/>
          <p:nvPr/>
        </p:nvSpPr>
        <p:spPr>
          <a:xfrm>
            <a:off x="685800" y="5212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水回り 60件</a:t>
            </a:r>
            <a:endParaRPr lang="en-US" sz="1300" dirty="0"/>
          </a:p>
        </p:txBody>
      </p:sp>
      <p:sp>
        <p:nvSpPr>
          <p:cNvPr id="11" name="node-117"/>
          <p:cNvSpPr/>
          <p:nvPr/>
        </p:nvSpPr>
        <p:spPr>
          <a:xfrm>
            <a:off x="3575304" y="1874520"/>
            <a:ext cx="548640" cy="548640"/>
          </a:xfrm>
          <a:prstGeom prst="ellipse">
            <a:avLst/>
          </a:prstGeom>
          <a:solidFill>
            <a:srgbClr val="2640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-118"/>
          <p:cNvSpPr txBox="1"/>
          <p:nvPr/>
        </p:nvSpPr>
        <p:spPr>
          <a:xfrm>
            <a:off x="2798064" y="1463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2027</a:t>
            </a:r>
            <a:endParaRPr lang="en-US" sz="1500" dirty="0"/>
          </a:p>
        </p:txBody>
      </p:sp>
      <p:sp>
        <p:nvSpPr>
          <p:cNvPr id="13" name="card-119"/>
          <p:cNvSpPr/>
          <p:nvPr/>
        </p:nvSpPr>
        <p:spPr>
          <a:xfrm>
            <a:off x="2798064" y="2697480"/>
            <a:ext cx="2103120" cy="32004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-120"/>
          <p:cNvSpPr txBox="1"/>
          <p:nvPr/>
        </p:nvSpPr>
        <p:spPr>
          <a:xfrm>
            <a:off x="2935224" y="2834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コーディネートの商品化</a:t>
            </a:r>
            <a:endParaRPr lang="en-US" sz="1500" dirty="0"/>
          </a:p>
        </p:txBody>
      </p:sp>
      <p:sp>
        <p:nvSpPr>
          <p:cNvPr id="15" name="text-121"/>
          <p:cNvSpPr txBox="1"/>
          <p:nvPr/>
        </p:nvSpPr>
        <p:spPr>
          <a:xfrm>
            <a:off x="2935224" y="36118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床・壁・照明・家具のセット提案</a:t>
            </a:r>
            <a:endParaRPr lang="en-US" sz="1200" dirty="0"/>
          </a:p>
        </p:txBody>
      </p:sp>
      <p:sp>
        <p:nvSpPr>
          <p:cNvPr id="16" name="text-122"/>
          <p:cNvSpPr txBox="1"/>
          <p:nvPr/>
        </p:nvSpPr>
        <p:spPr>
          <a:xfrm>
            <a:off x="2935224" y="5212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追加率 40%</a:t>
            </a:r>
            <a:endParaRPr lang="en-US" sz="1300" dirty="0"/>
          </a:p>
        </p:txBody>
      </p:sp>
      <p:sp>
        <p:nvSpPr>
          <p:cNvPr id="17" name="node-123"/>
          <p:cNvSpPr/>
          <p:nvPr/>
        </p:nvSpPr>
        <p:spPr>
          <a:xfrm>
            <a:off x="5824728" y="1874520"/>
            <a:ext cx="548640" cy="548640"/>
          </a:xfrm>
          <a:prstGeom prst="ellipse">
            <a:avLst/>
          </a:prstGeom>
          <a:solidFill>
            <a:srgbClr val="2640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-124"/>
          <p:cNvSpPr txBox="1"/>
          <p:nvPr/>
        </p:nvSpPr>
        <p:spPr>
          <a:xfrm>
            <a:off x="5047488" y="1463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2028</a:t>
            </a:r>
            <a:endParaRPr lang="en-US" sz="1500" dirty="0"/>
          </a:p>
        </p:txBody>
      </p:sp>
      <p:sp>
        <p:nvSpPr>
          <p:cNvPr id="19" name="card-125"/>
          <p:cNvSpPr/>
          <p:nvPr/>
        </p:nvSpPr>
        <p:spPr>
          <a:xfrm>
            <a:off x="5047488" y="2697480"/>
            <a:ext cx="2103120" cy="32004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-126"/>
          <p:cNvSpPr txBox="1"/>
          <p:nvPr/>
        </p:nvSpPr>
        <p:spPr>
          <a:xfrm>
            <a:off x="5184648" y="2834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中古購入＋リノベ</a:t>
            </a:r>
            <a:endParaRPr lang="en-US" sz="1500" dirty="0"/>
          </a:p>
        </p:txBody>
      </p:sp>
      <p:sp>
        <p:nvSpPr>
          <p:cNvPr id="21" name="text-127"/>
          <p:cNvSpPr txBox="1"/>
          <p:nvPr/>
        </p:nvSpPr>
        <p:spPr>
          <a:xfrm>
            <a:off x="5184648" y="36118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不動産会社と提携し、購入前から見積もり</a:t>
            </a:r>
            <a:endParaRPr lang="en-US" sz="1200" dirty="0"/>
          </a:p>
        </p:txBody>
      </p:sp>
      <p:sp>
        <p:nvSpPr>
          <p:cNvPr id="22" name="text-128"/>
          <p:cNvSpPr txBox="1"/>
          <p:nvPr/>
        </p:nvSpPr>
        <p:spPr>
          <a:xfrm>
            <a:off x="5184648" y="5212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中古リノベ 25件</a:t>
            </a:r>
            <a:endParaRPr lang="en-US" sz="1300" dirty="0"/>
          </a:p>
        </p:txBody>
      </p:sp>
      <p:sp>
        <p:nvSpPr>
          <p:cNvPr id="23" name="node-129"/>
          <p:cNvSpPr/>
          <p:nvPr/>
        </p:nvSpPr>
        <p:spPr>
          <a:xfrm>
            <a:off x="8074152" y="1874520"/>
            <a:ext cx="548640" cy="548640"/>
          </a:xfrm>
          <a:prstGeom prst="ellipse">
            <a:avLst/>
          </a:prstGeom>
          <a:solidFill>
            <a:srgbClr val="2640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-130"/>
          <p:cNvSpPr txBox="1"/>
          <p:nvPr/>
        </p:nvSpPr>
        <p:spPr>
          <a:xfrm>
            <a:off x="7296912" y="1463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2029</a:t>
            </a:r>
            <a:endParaRPr lang="en-US" sz="1500" dirty="0"/>
          </a:p>
        </p:txBody>
      </p:sp>
      <p:sp>
        <p:nvSpPr>
          <p:cNvPr id="25" name="card-131"/>
          <p:cNvSpPr/>
          <p:nvPr/>
        </p:nvSpPr>
        <p:spPr>
          <a:xfrm>
            <a:off x="7296912" y="2697480"/>
            <a:ext cx="2103120" cy="32004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-132"/>
          <p:cNvSpPr txBox="1"/>
          <p:nvPr/>
        </p:nvSpPr>
        <p:spPr>
          <a:xfrm>
            <a:off x="7434072" y="2834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大型リノベ・断熱改修</a:t>
            </a:r>
            <a:endParaRPr lang="en-US" sz="1500" dirty="0"/>
          </a:p>
        </p:txBody>
      </p:sp>
      <p:sp>
        <p:nvSpPr>
          <p:cNvPr id="27" name="text-133"/>
          <p:cNvSpPr txBox="1"/>
          <p:nvPr/>
        </p:nvSpPr>
        <p:spPr>
          <a:xfrm>
            <a:off x="7434072" y="36118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LDK・間取り変更、補助金の活用</a:t>
            </a:r>
            <a:endParaRPr lang="en-US" sz="1200" dirty="0"/>
          </a:p>
        </p:txBody>
      </p:sp>
      <p:sp>
        <p:nvSpPr>
          <p:cNvPr id="28" name="text-134"/>
          <p:cNvSpPr txBox="1"/>
          <p:nvPr/>
        </p:nvSpPr>
        <p:spPr>
          <a:xfrm>
            <a:off x="7434072" y="5212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大型転換 18%</a:t>
            </a:r>
            <a:endParaRPr lang="en-US" sz="1300" dirty="0"/>
          </a:p>
        </p:txBody>
      </p:sp>
      <p:sp>
        <p:nvSpPr>
          <p:cNvPr id="29" name="node-135"/>
          <p:cNvSpPr/>
          <p:nvPr/>
        </p:nvSpPr>
        <p:spPr>
          <a:xfrm>
            <a:off x="10323576" y="1874520"/>
            <a:ext cx="548640" cy="548640"/>
          </a:xfrm>
          <a:prstGeom prst="ellipse">
            <a:avLst/>
          </a:prstGeom>
          <a:solidFill>
            <a:srgbClr val="2640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-136"/>
          <p:cNvSpPr txBox="1"/>
          <p:nvPr/>
        </p:nvSpPr>
        <p:spPr>
          <a:xfrm>
            <a:off x="9546336" y="1463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2030</a:t>
            </a:r>
            <a:endParaRPr lang="en-US" sz="1500" dirty="0"/>
          </a:p>
        </p:txBody>
      </p:sp>
      <p:sp>
        <p:nvSpPr>
          <p:cNvPr id="31" name="card-137"/>
          <p:cNvSpPr/>
          <p:nvPr/>
        </p:nvSpPr>
        <p:spPr>
          <a:xfrm>
            <a:off x="9546336" y="2697480"/>
            <a:ext cx="2103120" cy="32004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-138"/>
          <p:cNvSpPr txBox="1"/>
          <p:nvPr/>
        </p:nvSpPr>
        <p:spPr>
          <a:xfrm>
            <a:off x="9683496" y="2834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住まい計画・リピート</a:t>
            </a:r>
            <a:endParaRPr lang="en-US" sz="1500" dirty="0"/>
          </a:p>
        </p:txBody>
      </p:sp>
      <p:sp>
        <p:nvSpPr>
          <p:cNvPr id="33" name="text-139"/>
          <p:cNvSpPr txBox="1"/>
          <p:nvPr/>
        </p:nvSpPr>
        <p:spPr>
          <a:xfrm>
            <a:off x="9683496" y="36118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10年計画で外装・給湯器を次回提案</a:t>
            </a:r>
            <a:endParaRPr lang="en-US" sz="1200" dirty="0"/>
          </a:p>
        </p:txBody>
      </p:sp>
      <p:sp>
        <p:nvSpPr>
          <p:cNvPr id="34" name="text-140"/>
          <p:cNvSpPr txBox="1"/>
          <p:nvPr/>
        </p:nvSpPr>
        <p:spPr>
          <a:xfrm>
            <a:off x="9683496" y="5212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リピート率 30%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利益は水回りの「後」で出す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同じ水回り100件でも、コーディネートと大型リノベで粗利は約1.6倍</a:t>
            </a:r>
            <a:endParaRPr lang="en-US" sz="1500" dirty="0"/>
          </a:p>
        </p:txBody>
      </p:sp>
      <p:graphicFrame>
        <p:nvGraphicFramePr>
          <p:cNvPr id="17" name="table-1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0350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005840"/>
                <a:gridCol w="1371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段階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単価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粗利率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1件の粗利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0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624"/>
                          </a:solidFill>
                        </a:rPr>
                        <a:t>接点（給湯器・トイレ）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20〜50万円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15〜20%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4〜10万円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624"/>
                          </a:solidFill>
                        </a:rPr>
                        <a:t>入口（水回り4点）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約200万円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28%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約56万円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624"/>
                          </a:solidFill>
                        </a:rPr>
                        <a:t>追加（床・壁・照明・家具）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約80万円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624"/>
                          </a:solidFill>
                        </a:rPr>
                        <a:t>33%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約26万円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624"/>
                          </a:solidFill>
                        </a:rPr>
                        <a:t>大型リノベ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約470万円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30%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約141万円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-profit" descr=""/>
          <p:cNvGraphicFramePr/>
          <p:nvPr/>
        </p:nvGraphicFramePr>
        <p:xfrm>
          <a:off x="6858000" y="1600200"/>
          <a:ext cx="47548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-142"/>
          <p:cNvSpPr/>
          <p:nvPr/>
        </p:nvSpPr>
        <p:spPr>
          <a:xfrm>
            <a:off x="548640" y="4434840"/>
            <a:ext cx="6035040" cy="150876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-143"/>
          <p:cNvSpPr txBox="1"/>
          <p:nvPr/>
        </p:nvSpPr>
        <p:spPr>
          <a:xfrm>
            <a:off x="822960" y="457200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約8,770万円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粗利（水回りだけなら5,600万円）。売上 約3.0億円・粗利率29%</a:t>
            </a:r>
            <a:endParaRPr lang="en-US" sz="1400" dirty="0"/>
          </a:p>
        </p:txBody>
      </p:sp>
      <p:sp>
        <p:nvSpPr>
          <p:cNvPr id="8" name="text-144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671"/>
                </a:solidFill>
              </a:rPr>
              <a:t>試算：内装・家具の追加率40%、大型への転換率15%を仮定。粗利率は業界平均（約30%、中小15〜25%）をもとに設定。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1店舗の5年計画（例）：2030年に売上7.9億円・粗利2.3億円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件数・追加率・転換率を毎年少しずつ上げる</a:t>
            </a:r>
            <a:endParaRPr lang="en-US" sz="1500" dirty="0"/>
          </a:p>
        </p:txBody>
      </p:sp>
      <p:graphicFrame>
        <p:nvGraphicFramePr>
          <p:cNvPr id="4" name="chart-store" descr=""/>
          <p:cNvGraphicFramePr/>
          <p:nvPr/>
        </p:nvGraphicFramePr>
        <p:xfrm>
          <a:off x="548640" y="1600200"/>
          <a:ext cx="60350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table-1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600200"/>
          <a:ext cx="47548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05840"/>
                <a:gridCol w="914400"/>
                <a:gridCol w="100584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年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水回り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追加率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大型転換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中古リノベ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0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624"/>
                          </a:solidFill>
                        </a:rPr>
                        <a:t>2026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60件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30%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10%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0件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624"/>
                          </a:solidFill>
                        </a:rPr>
                        <a:t>2027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80件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40%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12%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10件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624"/>
                          </a:solidFill>
                        </a:rPr>
                        <a:t>2028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100件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50%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15%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25件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624"/>
                          </a:solidFill>
                        </a:rPr>
                        <a:t>2029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120件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55%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18%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40件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624"/>
                          </a:solidFill>
                        </a:rPr>
                        <a:t>2030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140件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60%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20%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24"/>
                          </a:solidFill>
                        </a:rPr>
                        <a:t>50件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146"/>
          <p:cNvSpPr txBox="1"/>
          <p:nvPr/>
        </p:nvSpPr>
        <p:spPr>
          <a:xfrm>
            <a:off x="6858000" y="45720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450"/>
                </a:solidFill>
              </a:rPr>
              <a:t>単価：水回り約200万円・追加約80万円・大型約456万円・中古リノベ約500万円（年2.5%上昇）。件数・率は目標値の例。年140件には施工体制の拡大が必要。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4. コーディネート事業：「判断」を売る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AIが選択肢を用意し、プロが判断する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選択肢はAIで手に入る。足りないのは「判断」と「安心」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AIが普及するほど、お金を払う対象は「案づくり」から「お墨付き」へ移る</a:t>
            </a:r>
            <a:endParaRPr lang="en-US" sz="1500" dirty="0"/>
          </a:p>
        </p:txBody>
      </p:sp>
      <p:sp>
        <p:nvSpPr>
          <p:cNvPr id="4" name="card-147"/>
          <p:cNvSpPr/>
          <p:nvPr/>
        </p:nvSpPr>
        <p:spPr>
          <a:xfrm>
            <a:off x="548640" y="1691640"/>
            <a:ext cx="2103120" cy="26517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148"/>
          <p:cNvSpPr txBox="1"/>
          <p:nvPr/>
        </p:nvSpPr>
        <p:spPr>
          <a:xfrm>
            <a:off x="68580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AIでできる</a:t>
            </a:r>
            <a:endParaRPr lang="en-US" sz="1200" dirty="0"/>
          </a:p>
        </p:txBody>
      </p:sp>
      <p:sp>
        <p:nvSpPr>
          <p:cNvPr id="6" name="text-149"/>
          <p:cNvSpPr txBox="1"/>
          <p:nvPr/>
        </p:nvSpPr>
        <p:spPr>
          <a:xfrm>
            <a:off x="685800" y="2240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情報を集める</a:t>
            </a:r>
            <a:endParaRPr lang="en-US" sz="1800" dirty="0"/>
          </a:p>
        </p:txBody>
      </p:sp>
      <p:sp>
        <p:nvSpPr>
          <p:cNvPr id="7" name="text-150"/>
          <p:cNvSpPr txBox="1"/>
          <p:nvPr/>
        </p:nvSpPr>
        <p:spPr>
          <a:xfrm>
            <a:off x="685800" y="28803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SNS・AIで画像も商品も大量に見られる</a:t>
            </a:r>
            <a:endParaRPr lang="en-US" sz="1250" dirty="0"/>
          </a:p>
        </p:txBody>
      </p:sp>
      <p:sp>
        <p:nvSpPr>
          <p:cNvPr id="8" name="card-151"/>
          <p:cNvSpPr/>
          <p:nvPr/>
        </p:nvSpPr>
        <p:spPr>
          <a:xfrm>
            <a:off x="2798064" y="1691640"/>
            <a:ext cx="2103120" cy="26517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-152"/>
          <p:cNvSpPr txBox="1"/>
          <p:nvPr/>
        </p:nvSpPr>
        <p:spPr>
          <a:xfrm>
            <a:off x="2935224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AIでできる</a:t>
            </a:r>
            <a:endParaRPr lang="en-US" sz="1200" dirty="0"/>
          </a:p>
        </p:txBody>
      </p:sp>
      <p:sp>
        <p:nvSpPr>
          <p:cNvPr id="10" name="text-153"/>
          <p:cNvSpPr txBox="1"/>
          <p:nvPr/>
        </p:nvSpPr>
        <p:spPr>
          <a:xfrm>
            <a:off x="2935224" y="2240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案をつくる</a:t>
            </a:r>
            <a:endParaRPr lang="en-US" sz="1800" dirty="0"/>
          </a:p>
        </p:txBody>
      </p:sp>
      <p:sp>
        <p:nvSpPr>
          <p:cNvPr id="11" name="text-154"/>
          <p:cNvSpPr txBox="1"/>
          <p:nvPr/>
        </p:nvSpPr>
        <p:spPr>
          <a:xfrm>
            <a:off x="2935224" y="28803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AIで部屋のイメージも家具の候補も出せる</a:t>
            </a:r>
            <a:endParaRPr lang="en-US" sz="1250" dirty="0"/>
          </a:p>
        </p:txBody>
      </p:sp>
      <p:sp>
        <p:nvSpPr>
          <p:cNvPr id="12" name="card-155"/>
          <p:cNvSpPr/>
          <p:nvPr/>
        </p:nvSpPr>
        <p:spPr>
          <a:xfrm>
            <a:off x="5047488" y="1691640"/>
            <a:ext cx="2103120" cy="265176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-156"/>
          <p:cNvSpPr txBox="1"/>
          <p:nvPr/>
        </p:nvSpPr>
        <p:spPr>
          <a:xfrm>
            <a:off x="5184648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AIではできない</a:t>
            </a:r>
            <a:endParaRPr lang="en-US" sz="1200" dirty="0"/>
          </a:p>
        </p:txBody>
      </p:sp>
      <p:sp>
        <p:nvSpPr>
          <p:cNvPr id="14" name="text-157"/>
          <p:cNvSpPr txBox="1"/>
          <p:nvPr/>
        </p:nvSpPr>
        <p:spPr>
          <a:xfrm>
            <a:off x="5184648" y="2240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選ぶ・決める</a:t>
            </a:r>
            <a:endParaRPr lang="en-US" sz="1800" dirty="0"/>
          </a:p>
        </p:txBody>
      </p:sp>
      <p:sp>
        <p:nvSpPr>
          <p:cNvPr id="15" name="text-158"/>
          <p:cNvSpPr txBox="1"/>
          <p:nvPr/>
        </p:nvSpPr>
        <p:spPr>
          <a:xfrm>
            <a:off x="5184648" y="28803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どれが自分の部屋に合うか判断できない</a:t>
            </a:r>
            <a:endParaRPr lang="en-US" sz="1250" dirty="0"/>
          </a:p>
        </p:txBody>
      </p:sp>
      <p:sp>
        <p:nvSpPr>
          <p:cNvPr id="16" name="card-159"/>
          <p:cNvSpPr/>
          <p:nvPr/>
        </p:nvSpPr>
        <p:spPr>
          <a:xfrm>
            <a:off x="7296912" y="1691640"/>
            <a:ext cx="2103120" cy="265176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-160"/>
          <p:cNvSpPr txBox="1"/>
          <p:nvPr/>
        </p:nvSpPr>
        <p:spPr>
          <a:xfrm>
            <a:off x="7434072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AIではできない</a:t>
            </a:r>
            <a:endParaRPr lang="en-US" sz="1200" dirty="0"/>
          </a:p>
        </p:txBody>
      </p:sp>
      <p:sp>
        <p:nvSpPr>
          <p:cNvPr id="18" name="text-161"/>
          <p:cNvSpPr txBox="1"/>
          <p:nvPr/>
        </p:nvSpPr>
        <p:spPr>
          <a:xfrm>
            <a:off x="7434072" y="2240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失敗を避ける</a:t>
            </a:r>
            <a:endParaRPr lang="en-US" sz="1800" dirty="0"/>
          </a:p>
        </p:txBody>
      </p:sp>
      <p:sp>
        <p:nvSpPr>
          <p:cNvPr id="19" name="text-162"/>
          <p:cNvSpPr txBox="1"/>
          <p:nvPr/>
        </p:nvSpPr>
        <p:spPr>
          <a:xfrm>
            <a:off x="7434072" y="28803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15万円のソファは返品しにくい</a:t>
            </a:r>
            <a:endParaRPr lang="en-US" sz="1250" dirty="0"/>
          </a:p>
        </p:txBody>
      </p:sp>
      <p:sp>
        <p:nvSpPr>
          <p:cNvPr id="20" name="card-163"/>
          <p:cNvSpPr/>
          <p:nvPr/>
        </p:nvSpPr>
        <p:spPr>
          <a:xfrm>
            <a:off x="9546336" y="1691640"/>
            <a:ext cx="2103120" cy="265176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-164"/>
          <p:cNvSpPr txBox="1"/>
          <p:nvPr/>
        </p:nvSpPr>
        <p:spPr>
          <a:xfrm>
            <a:off x="9683496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AIではできない</a:t>
            </a:r>
            <a:endParaRPr lang="en-US" sz="1200" dirty="0"/>
          </a:p>
        </p:txBody>
      </p:sp>
      <p:sp>
        <p:nvSpPr>
          <p:cNvPr id="22" name="text-165"/>
          <p:cNvSpPr txBox="1"/>
          <p:nvPr/>
        </p:nvSpPr>
        <p:spPr>
          <a:xfrm>
            <a:off x="9683496" y="2240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確信を持つ</a:t>
            </a:r>
            <a:endParaRPr lang="en-US" sz="1800" dirty="0"/>
          </a:p>
        </p:txBody>
      </p:sp>
      <p:sp>
        <p:nvSpPr>
          <p:cNvPr id="23" name="text-166"/>
          <p:cNvSpPr txBox="1"/>
          <p:nvPr/>
        </p:nvSpPr>
        <p:spPr>
          <a:xfrm>
            <a:off x="9683496" y="28803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「プロが良いと言った」後押しが欲しい</a:t>
            </a:r>
            <a:endParaRPr lang="en-US" sz="1250" dirty="0"/>
          </a:p>
        </p:txBody>
      </p:sp>
      <p:sp>
        <p:nvSpPr>
          <p:cNvPr id="24" name="card-167"/>
          <p:cNvSpPr/>
          <p:nvPr/>
        </p:nvSpPr>
        <p:spPr>
          <a:xfrm>
            <a:off x="548640" y="452628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-168"/>
          <p:cNvSpPr txBox="1"/>
          <p:nvPr/>
        </p:nvSpPr>
        <p:spPr>
          <a:xfrm>
            <a:off x="777240" y="4709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半数以上</a:t>
            </a:r>
            <a:endParaRPr lang="en-US" sz="3400" dirty="0"/>
          </a:p>
        </p:txBody>
      </p:sp>
      <p:sp>
        <p:nvSpPr>
          <p:cNvPr id="26" name="text-169"/>
          <p:cNvSpPr txBox="1"/>
          <p:nvPr/>
        </p:nvSpPr>
        <p:spPr>
          <a:xfrm>
            <a:off x="777240" y="5486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今のインテリアに不満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理由の4割超が「色やテイストの不統一」</a:t>
            </a:r>
            <a:endParaRPr lang="en-US" sz="1200" dirty="0"/>
          </a:p>
        </p:txBody>
      </p:sp>
      <p:sp>
        <p:nvSpPr>
          <p:cNvPr id="27" name="card-170"/>
          <p:cNvSpPr/>
          <p:nvPr/>
        </p:nvSpPr>
        <p:spPr>
          <a:xfrm>
            <a:off x="4306824" y="452628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-171"/>
          <p:cNvSpPr txBox="1"/>
          <p:nvPr/>
        </p:nvSpPr>
        <p:spPr>
          <a:xfrm>
            <a:off x="4535424" y="4709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</a:rPr>
              <a:t>7割以上</a:t>
            </a:r>
            <a:endParaRPr lang="en-US" sz="3400" dirty="0"/>
          </a:p>
        </p:txBody>
      </p:sp>
      <p:sp>
        <p:nvSpPr>
          <p:cNvPr id="29" name="text-172"/>
          <p:cNvSpPr txBox="1"/>
          <p:nvPr/>
        </p:nvSpPr>
        <p:spPr>
          <a:xfrm>
            <a:off x="4535424" y="5486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インテリアにこだわりたい</a:t>
            </a:r>
            <a:endParaRPr lang="en-US" sz="1200" dirty="0"/>
          </a:p>
        </p:txBody>
      </p:sp>
      <p:sp>
        <p:nvSpPr>
          <p:cNvPr id="30" name="card-173"/>
          <p:cNvSpPr/>
          <p:nvPr/>
        </p:nvSpPr>
        <p:spPr>
          <a:xfrm>
            <a:off x="8065008" y="452628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-174"/>
          <p:cNvSpPr txBox="1"/>
          <p:nvPr/>
        </p:nvSpPr>
        <p:spPr>
          <a:xfrm>
            <a:off x="8293608" y="4709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</a:rPr>
              <a:t>約8割</a:t>
            </a:r>
            <a:endParaRPr lang="en-US" sz="3400" dirty="0"/>
          </a:p>
        </p:txBody>
      </p:sp>
      <p:sp>
        <p:nvSpPr>
          <p:cNvPr id="32" name="text-175"/>
          <p:cNvSpPr txBox="1"/>
          <p:nvPr/>
        </p:nvSpPr>
        <p:spPr>
          <a:xfrm>
            <a:off x="8293608" y="5486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Z世代の「インテリア迷子」が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AIでのコーディネートを希望</a:t>
            </a:r>
            <a:endParaRPr lang="en-US" sz="1200" dirty="0"/>
          </a:p>
        </p:txBody>
      </p:sp>
      <p:sp>
        <p:nvSpPr>
          <p:cNvPr id="33" name="text-176"/>
          <p:cNvSpPr txBox="1"/>
          <p:nvPr/>
        </p:nvSpPr>
        <p:spPr>
          <a:xfrm>
            <a:off x="548640" y="617220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671"/>
                </a:solidFill>
              </a:rPr>
              <a:t>出典：PR TIMES 住まいのインテリア意識調査、Z世代ほか1,000人調査（2026年）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サービス案「買う前ジャッジ」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その家具、あなたの部屋に合うか。買う前にプロが判定します。</a:t>
            </a:r>
            <a:endParaRPr lang="en-US" sz="1500" dirty="0"/>
          </a:p>
        </p:txBody>
      </p:sp>
      <p:sp>
        <p:nvSpPr>
          <p:cNvPr id="4" name="card-177"/>
          <p:cNvSpPr/>
          <p:nvPr/>
        </p:nvSpPr>
        <p:spPr>
          <a:xfrm>
            <a:off x="548640" y="1600200"/>
            <a:ext cx="4754880" cy="4343400"/>
          </a:xfrm>
          <a:prstGeom prst="roundRect">
            <a:avLst>
              <a:gd name="adj" fmla="val 2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-178"/>
          <p:cNvSpPr txBox="1"/>
          <p:nvPr/>
        </p:nvSpPr>
        <p:spPr>
          <a:xfrm>
            <a:off x="822960" y="1737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判定カード（届くもの）</a:t>
            </a:r>
            <a:endParaRPr lang="en-US" sz="1300" dirty="0"/>
          </a:p>
        </p:txBody>
      </p:sp>
      <p:sp>
        <p:nvSpPr>
          <p:cNvPr id="6" name="text-179"/>
          <p:cNvSpPr txBox="1"/>
          <p:nvPr/>
        </p:nvSpPr>
        <p:spPr>
          <a:xfrm>
            <a:off x="822960" y="2148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○</a:t>
            </a:r>
            <a:endParaRPr lang="en-US" sz="6000" dirty="0"/>
          </a:p>
        </p:txBody>
      </p:sp>
      <p:sp>
        <p:nvSpPr>
          <p:cNvPr id="7" name="text-180"/>
          <p:cNvSpPr txBox="1"/>
          <p:nvPr/>
        </p:nvSpPr>
        <p:spPr>
          <a:xfrm>
            <a:off x="1828800" y="23317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色を変えればOK</a:t>
            </a:r>
            <a:endParaRPr lang="en-US" sz="2000" dirty="0"/>
          </a:p>
        </p:txBody>
      </p:sp>
      <p:sp>
        <p:nvSpPr>
          <p:cNvPr id="8" name="text-181"/>
          <p:cNvSpPr txBox="1"/>
          <p:nvPr/>
        </p:nvSpPr>
        <p:spPr>
          <a:xfrm>
            <a:off x="822960" y="3291840"/>
            <a:ext cx="4297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色：床の木目と同系色で沈む → 一段明るいグレーへ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サイズ：幅180cmで動線もOK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テイスト：ナチュラルに合う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代わりの候補3点（価格・リンク付き）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置き方：窓に背を向けて配置</a:t>
            </a:r>
            <a:endParaRPr lang="en-US" sz="1300" dirty="0"/>
          </a:p>
        </p:txBody>
      </p:sp>
      <p:sp>
        <p:nvSpPr>
          <p:cNvPr id="9" name="num-182"/>
          <p:cNvSpPr/>
          <p:nvPr/>
        </p:nvSpPr>
        <p:spPr>
          <a:xfrm>
            <a:off x="5577840" y="1709928"/>
            <a:ext cx="502920" cy="502920"/>
          </a:xfrm>
          <a:prstGeom prst="ellipse">
            <a:avLst/>
          </a:prstGeom>
          <a:solidFill>
            <a:srgbClr val="C0623B"/>
          </a:solidFill>
          <a:ln w="12700">
            <a:solidFill>
              <a:srgbClr val="C0623B"/>
            </a:solidFill>
            <a:prstDash val="solid"/>
          </a:ln>
        </p:spPr>
      </p:sp>
      <p:sp>
        <p:nvSpPr>
          <p:cNvPr id="10" name="text-183"/>
          <p:cNvSpPr txBox="1"/>
          <p:nvPr/>
        </p:nvSpPr>
        <p:spPr>
          <a:xfrm>
            <a:off x="5577840" y="1709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-184"/>
          <p:cNvSpPr txBox="1"/>
          <p:nvPr/>
        </p:nvSpPr>
        <p:spPr>
          <a:xfrm>
            <a:off x="6263640" y="1645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LINEで送るだけ</a:t>
            </a:r>
            <a:endParaRPr lang="en-US" sz="1600" dirty="0"/>
          </a:p>
        </p:txBody>
      </p:sp>
      <p:sp>
        <p:nvSpPr>
          <p:cNvPr id="12" name="text-185"/>
          <p:cNvSpPr txBox="1"/>
          <p:nvPr/>
        </p:nvSpPr>
        <p:spPr>
          <a:xfrm>
            <a:off x="6263640" y="20116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部屋の写真2枚・寸法・迷っている家具。面談なし</a:t>
            </a:r>
            <a:endParaRPr lang="en-US" sz="1300" dirty="0"/>
          </a:p>
        </p:txBody>
      </p:sp>
      <p:sp>
        <p:nvSpPr>
          <p:cNvPr id="13" name="num-186"/>
          <p:cNvSpPr/>
          <p:nvPr/>
        </p:nvSpPr>
        <p:spPr>
          <a:xfrm>
            <a:off x="5577840" y="2596896"/>
            <a:ext cx="502920" cy="502920"/>
          </a:xfrm>
          <a:prstGeom prst="ellipse">
            <a:avLst/>
          </a:prstGeom>
          <a:solidFill>
            <a:srgbClr val="C0623B"/>
          </a:solidFill>
          <a:ln w="12700">
            <a:solidFill>
              <a:srgbClr val="C0623B"/>
            </a:solidFill>
            <a:prstDash val="solid"/>
          </a:ln>
        </p:spPr>
      </p:sp>
      <p:sp>
        <p:nvSpPr>
          <p:cNvPr id="14" name="text-187"/>
          <p:cNvSpPr txBox="1"/>
          <p:nvPr/>
        </p:nvSpPr>
        <p:spPr>
          <a:xfrm>
            <a:off x="5577840" y="2596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-188"/>
          <p:cNvSpPr txBox="1"/>
          <p:nvPr/>
        </p:nvSpPr>
        <p:spPr>
          <a:xfrm>
            <a:off x="6263640" y="253288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答えは1枚のカード</a:t>
            </a:r>
            <a:endParaRPr lang="en-US" sz="1600" dirty="0"/>
          </a:p>
        </p:txBody>
      </p:sp>
      <p:sp>
        <p:nvSpPr>
          <p:cNvPr id="16" name="text-189"/>
          <p:cNvSpPr txBox="1"/>
          <p:nvPr/>
        </p:nvSpPr>
        <p:spPr>
          <a:xfrm>
            <a:off x="6263640" y="289864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◎○△×と理由3行。48時間以内に返信</a:t>
            </a:r>
            <a:endParaRPr lang="en-US" sz="1300" dirty="0"/>
          </a:p>
        </p:txBody>
      </p:sp>
      <p:sp>
        <p:nvSpPr>
          <p:cNvPr id="17" name="num-190"/>
          <p:cNvSpPr/>
          <p:nvPr/>
        </p:nvSpPr>
        <p:spPr>
          <a:xfrm>
            <a:off x="5577840" y="3483864"/>
            <a:ext cx="502920" cy="502920"/>
          </a:xfrm>
          <a:prstGeom prst="ellipse">
            <a:avLst/>
          </a:prstGeom>
          <a:solidFill>
            <a:srgbClr val="C0623B"/>
          </a:solidFill>
          <a:ln w="12700">
            <a:solidFill>
              <a:srgbClr val="C0623B"/>
            </a:solidFill>
            <a:prstDash val="solid"/>
          </a:ln>
        </p:spPr>
      </p:sp>
      <p:sp>
        <p:nvSpPr>
          <p:cNvPr id="18" name="text-191"/>
          <p:cNvSpPr txBox="1"/>
          <p:nvPr/>
        </p:nvSpPr>
        <p:spPr>
          <a:xfrm>
            <a:off x="557784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-192"/>
          <p:cNvSpPr txBox="1"/>
          <p:nvPr/>
        </p:nvSpPr>
        <p:spPr>
          <a:xfrm>
            <a:off x="6263640" y="341985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1点3,300円から</a:t>
            </a:r>
            <a:endParaRPr lang="en-US" sz="1600" dirty="0"/>
          </a:p>
        </p:txBody>
      </p:sp>
      <p:sp>
        <p:nvSpPr>
          <p:cNvPr id="20" name="text-193"/>
          <p:cNvSpPr txBox="1"/>
          <p:nvPr/>
        </p:nvSpPr>
        <p:spPr>
          <a:xfrm>
            <a:off x="6263640" y="378561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部屋まるごと9,800円。家具の失敗より安い</a:t>
            </a:r>
            <a:endParaRPr lang="en-US" sz="1300" dirty="0"/>
          </a:p>
        </p:txBody>
      </p:sp>
      <p:sp>
        <p:nvSpPr>
          <p:cNvPr id="21" name="num-194"/>
          <p:cNvSpPr/>
          <p:nvPr/>
        </p:nvSpPr>
        <p:spPr>
          <a:xfrm>
            <a:off x="5577840" y="4370832"/>
            <a:ext cx="502920" cy="502920"/>
          </a:xfrm>
          <a:prstGeom prst="ellipse">
            <a:avLst/>
          </a:prstGeom>
          <a:solidFill>
            <a:srgbClr val="C0623B"/>
          </a:solidFill>
          <a:ln w="12700">
            <a:solidFill>
              <a:srgbClr val="C0623B"/>
            </a:solidFill>
            <a:prstDash val="solid"/>
          </a:ln>
        </p:spPr>
      </p:sp>
      <p:sp>
        <p:nvSpPr>
          <p:cNvPr id="22" name="text-195"/>
          <p:cNvSpPr txBox="1"/>
          <p:nvPr/>
        </p:nvSpPr>
        <p:spPr>
          <a:xfrm>
            <a:off x="5577840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-196"/>
          <p:cNvSpPr txBox="1"/>
          <p:nvPr/>
        </p:nvSpPr>
        <p:spPr>
          <a:xfrm>
            <a:off x="6263640" y="430682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購入時に全額充当</a:t>
            </a:r>
            <a:endParaRPr lang="en-US" sz="1600" dirty="0"/>
          </a:p>
        </p:txBody>
      </p:sp>
      <p:sp>
        <p:nvSpPr>
          <p:cNvPr id="24" name="text-197"/>
          <p:cNvSpPr txBox="1"/>
          <p:nvPr/>
        </p:nvSpPr>
        <p:spPr>
          <a:xfrm>
            <a:off x="6263640" y="467258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提案した家具を買えば実質0円</a:t>
            </a:r>
            <a:endParaRPr lang="en-US" sz="1300" dirty="0"/>
          </a:p>
        </p:txBody>
      </p:sp>
      <p:sp>
        <p:nvSpPr>
          <p:cNvPr id="25" name="num-198"/>
          <p:cNvSpPr/>
          <p:nvPr/>
        </p:nvSpPr>
        <p:spPr>
          <a:xfrm>
            <a:off x="5577840" y="5257800"/>
            <a:ext cx="502920" cy="502920"/>
          </a:xfrm>
          <a:prstGeom prst="ellipse">
            <a:avLst/>
          </a:prstGeom>
          <a:solidFill>
            <a:srgbClr val="C0623B"/>
          </a:solidFill>
          <a:ln w="12700">
            <a:solidFill>
              <a:srgbClr val="C0623B"/>
            </a:solidFill>
            <a:prstDash val="solid"/>
          </a:ln>
        </p:spPr>
      </p:sp>
      <p:sp>
        <p:nvSpPr>
          <p:cNvPr id="26" name="text-199"/>
          <p:cNvSpPr txBox="1"/>
          <p:nvPr/>
        </p:nvSpPr>
        <p:spPr>
          <a:xfrm>
            <a:off x="557784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-200"/>
          <p:cNvSpPr txBox="1"/>
          <p:nvPr/>
        </p:nvSpPr>
        <p:spPr>
          <a:xfrm>
            <a:off x="6263640" y="51937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合わなければ再判定無料</a:t>
            </a:r>
            <a:endParaRPr lang="en-US" sz="1600" dirty="0"/>
          </a:p>
        </p:txBody>
      </p:sp>
      <p:sp>
        <p:nvSpPr>
          <p:cNvPr id="28" name="text-201"/>
          <p:cNvSpPr txBox="1"/>
          <p:nvPr/>
        </p:nvSpPr>
        <p:spPr>
          <a:xfrm>
            <a:off x="6263640" y="555955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判定どおりに買って合わなければ次回無料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Riekoのものさし × AIで、工数を約3分の1に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AIはRiekoが選んだ商品の中からしか選ばない ＝ センスが保たれる</a:t>
            </a:r>
            <a:endParaRPr lang="en-US" sz="1500" dirty="0"/>
          </a:p>
        </p:txBody>
      </p:sp>
      <p:sp>
        <p:nvSpPr>
          <p:cNvPr id="4" name="text-202"/>
          <p:cNvSpPr txBox="1"/>
          <p:nvPr/>
        </p:nvSpPr>
        <p:spPr>
          <a:xfrm>
            <a:off x="54864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Riekoのものさし（例）</a:t>
            </a:r>
            <a:endParaRPr lang="en-US" sz="1500" dirty="0"/>
          </a:p>
        </p:txBody>
      </p:sp>
      <p:sp>
        <p:nvSpPr>
          <p:cNvPr id="5" name="card-203"/>
          <p:cNvSpPr/>
          <p:nvPr/>
        </p:nvSpPr>
        <p:spPr>
          <a:xfrm>
            <a:off x="548640" y="2057400"/>
            <a:ext cx="484632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204"/>
          <p:cNvSpPr txBox="1"/>
          <p:nvPr/>
        </p:nvSpPr>
        <p:spPr>
          <a:xfrm>
            <a:off x="777240" y="205740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色の比率</a:t>
            </a:r>
            <a:endParaRPr lang="en-US" sz="1400" dirty="0"/>
          </a:p>
        </p:txBody>
      </p:sp>
      <p:sp>
        <p:nvSpPr>
          <p:cNvPr id="7" name="text-205"/>
          <p:cNvSpPr txBox="1"/>
          <p:nvPr/>
        </p:nvSpPr>
        <p:spPr>
          <a:xfrm>
            <a:off x="2468880" y="205740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70：25：5</a:t>
            </a:r>
            <a:endParaRPr lang="en-US" sz="1400" dirty="0"/>
          </a:p>
        </p:txBody>
      </p:sp>
      <p:sp>
        <p:nvSpPr>
          <p:cNvPr id="8" name="card-206"/>
          <p:cNvSpPr/>
          <p:nvPr/>
        </p:nvSpPr>
        <p:spPr>
          <a:xfrm>
            <a:off x="548640" y="2807208"/>
            <a:ext cx="484632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-207"/>
          <p:cNvSpPr txBox="1"/>
          <p:nvPr/>
        </p:nvSpPr>
        <p:spPr>
          <a:xfrm>
            <a:off x="777240" y="2807208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素材の数</a:t>
            </a:r>
            <a:endParaRPr lang="en-US" sz="1400" dirty="0"/>
          </a:p>
        </p:txBody>
      </p:sp>
      <p:sp>
        <p:nvSpPr>
          <p:cNvPr id="10" name="text-208"/>
          <p:cNvSpPr txBox="1"/>
          <p:nvPr/>
        </p:nvSpPr>
        <p:spPr>
          <a:xfrm>
            <a:off x="2468880" y="2807208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3種類まで</a:t>
            </a:r>
            <a:endParaRPr lang="en-US" sz="1400" dirty="0"/>
          </a:p>
        </p:txBody>
      </p:sp>
      <p:sp>
        <p:nvSpPr>
          <p:cNvPr id="11" name="card-209"/>
          <p:cNvSpPr/>
          <p:nvPr/>
        </p:nvSpPr>
        <p:spPr>
          <a:xfrm>
            <a:off x="548640" y="3557016"/>
            <a:ext cx="484632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-210"/>
          <p:cNvSpPr txBox="1"/>
          <p:nvPr/>
        </p:nvSpPr>
        <p:spPr>
          <a:xfrm>
            <a:off x="777240" y="3557016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木の色</a:t>
            </a:r>
            <a:endParaRPr lang="en-US" sz="1400" dirty="0"/>
          </a:p>
        </p:txBody>
      </p:sp>
      <p:sp>
        <p:nvSpPr>
          <p:cNvPr id="13" name="text-211"/>
          <p:cNvSpPr txBox="1"/>
          <p:nvPr/>
        </p:nvSpPr>
        <p:spPr>
          <a:xfrm>
            <a:off x="2468880" y="3557016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2トーンまで</a:t>
            </a:r>
            <a:endParaRPr lang="en-US" sz="1400" dirty="0"/>
          </a:p>
        </p:txBody>
      </p:sp>
      <p:sp>
        <p:nvSpPr>
          <p:cNvPr id="14" name="card-212"/>
          <p:cNvSpPr/>
          <p:nvPr/>
        </p:nvSpPr>
        <p:spPr>
          <a:xfrm>
            <a:off x="548640" y="4306824"/>
            <a:ext cx="484632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-213"/>
          <p:cNvSpPr txBox="1"/>
          <p:nvPr/>
        </p:nvSpPr>
        <p:spPr>
          <a:xfrm>
            <a:off x="777240" y="430682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高さ</a:t>
            </a:r>
            <a:endParaRPr lang="en-US" sz="1400" dirty="0"/>
          </a:p>
        </p:txBody>
      </p:sp>
      <p:sp>
        <p:nvSpPr>
          <p:cNvPr id="16" name="text-214"/>
          <p:cNvSpPr txBox="1"/>
          <p:nvPr/>
        </p:nvSpPr>
        <p:spPr>
          <a:xfrm>
            <a:off x="2468880" y="4306824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低・中・高を三角形に</a:t>
            </a:r>
            <a:endParaRPr lang="en-US" sz="1400" dirty="0"/>
          </a:p>
        </p:txBody>
      </p:sp>
      <p:sp>
        <p:nvSpPr>
          <p:cNvPr id="17" name="card-215"/>
          <p:cNvSpPr/>
          <p:nvPr/>
        </p:nvSpPr>
        <p:spPr>
          <a:xfrm>
            <a:off x="548640" y="5056632"/>
            <a:ext cx="484632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-216"/>
          <p:cNvSpPr txBox="1"/>
          <p:nvPr/>
        </p:nvSpPr>
        <p:spPr>
          <a:xfrm>
            <a:off x="777240" y="5056632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余白</a:t>
            </a:r>
            <a:endParaRPr lang="en-US" sz="1400" dirty="0"/>
          </a:p>
        </p:txBody>
      </p:sp>
      <p:sp>
        <p:nvSpPr>
          <p:cNvPr id="19" name="text-217"/>
          <p:cNvSpPr txBox="1"/>
          <p:nvPr/>
        </p:nvSpPr>
        <p:spPr>
          <a:xfrm>
            <a:off x="2468880" y="505663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床の3割を空ける</a:t>
            </a:r>
            <a:endParaRPr lang="en-US" sz="1400" dirty="0"/>
          </a:p>
        </p:txBody>
      </p:sp>
      <p:graphicFrame>
        <p:nvGraphicFramePr>
          <p:cNvPr id="20" name="chart-hours" descr=""/>
          <p:cNvGraphicFramePr/>
          <p:nvPr/>
        </p:nvGraphicFramePr>
        <p:xfrm>
          <a:off x="5760720" y="1600200"/>
          <a:ext cx="58521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card-218"/>
          <p:cNvSpPr/>
          <p:nvPr/>
        </p:nvSpPr>
        <p:spPr>
          <a:xfrm>
            <a:off x="5760720" y="5120640"/>
            <a:ext cx="58521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-219"/>
          <p:cNvSpPr txBox="1"/>
          <p:nvPr/>
        </p:nvSpPr>
        <p:spPr>
          <a:xfrm>
            <a:off x="5989320" y="51206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約8.5時間 → 約2.7時間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　面談と判断は人が担う</a:t>
            </a:r>
            <a:endParaRPr lang="en-US" sz="1400" dirty="0"/>
          </a:p>
        </p:txBody>
      </p:sp>
      <p:sp>
        <p:nvSpPr>
          <p:cNvPr id="23" name="text-220"/>
          <p:cNvSpPr txBox="1"/>
          <p:nvPr/>
        </p:nvSpPr>
        <p:spPr>
          <a:xfrm>
            <a:off x="548640" y="5897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671"/>
                </a:solidFill>
              </a:rPr>
              <a:t>現状の工数は一般的な流れからの見積もり。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ターゲット別の商品：男性向け・女性向け・50歳から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共通する本音は「何がいまいちなのか、自分ではわからない」</a:t>
            </a:r>
            <a:endParaRPr lang="en-US" sz="1500" dirty="0"/>
          </a:p>
        </p:txBody>
      </p:sp>
      <p:sp>
        <p:nvSpPr>
          <p:cNvPr id="4" name="card-221"/>
          <p:cNvSpPr/>
          <p:nvPr/>
        </p:nvSpPr>
        <p:spPr>
          <a:xfrm>
            <a:off x="548640" y="1600200"/>
            <a:ext cx="3566160" cy="43434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222"/>
          <p:cNvSpPr txBox="1"/>
          <p:nvPr/>
        </p:nvSpPr>
        <p:spPr>
          <a:xfrm>
            <a:off x="2926080" y="1737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優先 1</a:t>
            </a:r>
            <a:endParaRPr lang="en-US" sz="1100" dirty="0"/>
          </a:p>
        </p:txBody>
      </p:sp>
      <p:sp>
        <p:nvSpPr>
          <p:cNvPr id="6" name="text-223"/>
          <p:cNvSpPr txBox="1"/>
          <p:nvPr/>
        </p:nvSpPr>
        <p:spPr>
          <a:xfrm>
            <a:off x="777240" y="1737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50歳から</a:t>
            </a:r>
            <a:endParaRPr lang="en-US" sz="1300" dirty="0"/>
          </a:p>
        </p:txBody>
      </p:sp>
      <p:sp>
        <p:nvSpPr>
          <p:cNvPr id="7" name="text-224"/>
          <p:cNvSpPr txBox="1"/>
          <p:nvPr/>
        </p:nvSpPr>
        <p:spPr>
          <a:xfrm>
            <a:off x="777240" y="21031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これからの20年の部屋</a:t>
            </a:r>
            <a:endParaRPr lang="en-US" sz="1800" dirty="0"/>
          </a:p>
        </p:txBody>
      </p:sp>
      <p:sp>
        <p:nvSpPr>
          <p:cNvPr id="8" name="text-225"/>
          <p:cNvSpPr txBox="1"/>
          <p:nvPr/>
        </p:nvSpPr>
        <p:spPr>
          <a:xfrm>
            <a:off x="777240" y="26517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450"/>
                </a:solidFill>
              </a:rPr>
              <a:t>本音：これからを心地よく。でも大きなお金はかけたくない</a:t>
            </a:r>
            <a:endParaRPr lang="en-US" sz="1200" dirty="0"/>
          </a:p>
        </p:txBody>
      </p:sp>
      <p:sp>
        <p:nvSpPr>
          <p:cNvPr id="9" name="text-226"/>
          <p:cNvSpPr txBox="1"/>
          <p:nvPr/>
        </p:nvSpPr>
        <p:spPr>
          <a:xfrm>
            <a:off x="777240" y="35204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家具を「残す・直す・手放す」で判定／空いた子ども部屋を書斎に／訪問あり</a:t>
            </a:r>
            <a:endParaRPr lang="en-US" sz="1250" dirty="0"/>
          </a:p>
        </p:txBody>
      </p:sp>
      <p:sp>
        <p:nvSpPr>
          <p:cNvPr id="10" name="text-227"/>
          <p:cNvSpPr txBox="1"/>
          <p:nvPr/>
        </p:nvSpPr>
        <p:spPr>
          <a:xfrm>
            <a:off x="777240" y="4754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22,000円 → 5万円</a:t>
            </a:r>
            <a:endParaRPr lang="en-US" sz="1500" dirty="0"/>
          </a:p>
        </p:txBody>
      </p:sp>
      <p:sp>
        <p:nvSpPr>
          <p:cNvPr id="11" name="text-228"/>
          <p:cNvSpPr txBox="1"/>
          <p:nvPr/>
        </p:nvSpPr>
        <p:spPr>
          <a:xfrm>
            <a:off x="777240" y="51663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「減らして、ととのえる。」</a:t>
            </a:r>
            <a:endParaRPr lang="en-US" sz="1300" dirty="0"/>
          </a:p>
        </p:txBody>
      </p:sp>
      <p:sp>
        <p:nvSpPr>
          <p:cNvPr id="12" name="card-229"/>
          <p:cNvSpPr/>
          <p:nvPr/>
        </p:nvSpPr>
        <p:spPr>
          <a:xfrm>
            <a:off x="4297680" y="1600200"/>
            <a:ext cx="3566160" cy="43434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-230"/>
          <p:cNvSpPr txBox="1"/>
          <p:nvPr/>
        </p:nvSpPr>
        <p:spPr>
          <a:xfrm>
            <a:off x="6675120" y="1737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優先 2</a:t>
            </a:r>
            <a:endParaRPr lang="en-US" sz="1100" dirty="0"/>
          </a:p>
        </p:txBody>
      </p:sp>
      <p:sp>
        <p:nvSpPr>
          <p:cNvPr id="14" name="text-231"/>
          <p:cNvSpPr txBox="1"/>
          <p:nvPr/>
        </p:nvSpPr>
        <p:spPr>
          <a:xfrm>
            <a:off x="4526280" y="1737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男性向け</a:t>
            </a:r>
            <a:endParaRPr lang="en-US" sz="1300" dirty="0"/>
          </a:p>
        </p:txBody>
      </p:sp>
      <p:sp>
        <p:nvSpPr>
          <p:cNvPr id="15" name="text-232"/>
          <p:cNvSpPr txBox="1"/>
          <p:nvPr/>
        </p:nvSpPr>
        <p:spPr>
          <a:xfrm>
            <a:off x="4526280" y="21031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部屋の正解パッケージ</a:t>
            </a:r>
            <a:endParaRPr lang="en-US" sz="1800" dirty="0"/>
          </a:p>
        </p:txBody>
      </p:sp>
      <p:sp>
        <p:nvSpPr>
          <p:cNvPr id="16" name="text-233"/>
          <p:cNvSpPr txBox="1"/>
          <p:nvPr/>
        </p:nvSpPr>
        <p:spPr>
          <a:xfrm>
            <a:off x="4526280" y="26517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450"/>
                </a:solidFill>
              </a:rPr>
              <a:t>本音：正解を知りたい。でも聞くのは恥ずかしい。時間はかけたくない</a:t>
            </a:r>
            <a:endParaRPr lang="en-US" sz="1200" dirty="0"/>
          </a:p>
        </p:txBody>
      </p:sp>
      <p:sp>
        <p:nvSpPr>
          <p:cNvPr id="17" name="text-234"/>
          <p:cNvSpPr txBox="1"/>
          <p:nvPr/>
        </p:nvSpPr>
        <p:spPr>
          <a:xfrm>
            <a:off x="4526280" y="35204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理由を数字で示す判定／まとめて買える購入リスト／組み立て代行</a:t>
            </a:r>
            <a:endParaRPr lang="en-US" sz="1250" dirty="0"/>
          </a:p>
        </p:txBody>
      </p:sp>
      <p:sp>
        <p:nvSpPr>
          <p:cNvPr id="18" name="text-235"/>
          <p:cNvSpPr txBox="1"/>
          <p:nvPr/>
        </p:nvSpPr>
        <p:spPr>
          <a:xfrm>
            <a:off x="4526280" y="4754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3,300円 → 29,800円</a:t>
            </a:r>
            <a:endParaRPr lang="en-US" sz="1500" dirty="0"/>
          </a:p>
        </p:txBody>
      </p:sp>
      <p:sp>
        <p:nvSpPr>
          <p:cNvPr id="19" name="text-236"/>
          <p:cNvSpPr txBox="1"/>
          <p:nvPr/>
        </p:nvSpPr>
        <p:spPr>
          <a:xfrm>
            <a:off x="4526280" y="51663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「センスはいらない。正解だけ。」</a:t>
            </a:r>
            <a:endParaRPr lang="en-US" sz="1300" dirty="0"/>
          </a:p>
        </p:txBody>
      </p:sp>
      <p:sp>
        <p:nvSpPr>
          <p:cNvPr id="20" name="card-237"/>
          <p:cNvSpPr/>
          <p:nvPr/>
        </p:nvSpPr>
        <p:spPr>
          <a:xfrm>
            <a:off x="8046720" y="1600200"/>
            <a:ext cx="3566160" cy="43434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-238"/>
          <p:cNvSpPr txBox="1"/>
          <p:nvPr/>
        </p:nvSpPr>
        <p:spPr>
          <a:xfrm>
            <a:off x="10424160" y="1737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優先 3</a:t>
            </a:r>
            <a:endParaRPr lang="en-US" sz="1100" dirty="0"/>
          </a:p>
        </p:txBody>
      </p:sp>
      <p:sp>
        <p:nvSpPr>
          <p:cNvPr id="22" name="text-239"/>
          <p:cNvSpPr txBox="1"/>
          <p:nvPr/>
        </p:nvSpPr>
        <p:spPr>
          <a:xfrm>
            <a:off x="8275320" y="1737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女性向け</a:t>
            </a:r>
            <a:endParaRPr lang="en-US" sz="1300" dirty="0"/>
          </a:p>
        </p:txBody>
      </p:sp>
      <p:sp>
        <p:nvSpPr>
          <p:cNvPr id="23" name="text-240"/>
          <p:cNvSpPr txBox="1"/>
          <p:nvPr/>
        </p:nvSpPr>
        <p:spPr>
          <a:xfrm>
            <a:off x="8275320" y="21031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好きをまとめるジャッジ</a:t>
            </a:r>
            <a:endParaRPr lang="en-US" sz="1800" dirty="0"/>
          </a:p>
        </p:txBody>
      </p:sp>
      <p:sp>
        <p:nvSpPr>
          <p:cNvPr id="24" name="text-241"/>
          <p:cNvSpPr txBox="1"/>
          <p:nvPr/>
        </p:nvSpPr>
        <p:spPr>
          <a:xfrm>
            <a:off x="8275320" y="26517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450"/>
                </a:solidFill>
              </a:rPr>
              <a:t>本音：好きな画像は保存しているのに、家ではまとまらない</a:t>
            </a:r>
            <a:endParaRPr lang="en-US" sz="1200" dirty="0"/>
          </a:p>
        </p:txBody>
      </p:sp>
      <p:sp>
        <p:nvSpPr>
          <p:cNvPr id="25" name="text-242"/>
          <p:cNvSpPr txBox="1"/>
          <p:nvPr/>
        </p:nvSpPr>
        <p:spPr>
          <a:xfrm>
            <a:off x="8275320" y="35204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保存画像からテイストを読み解く／今ある家具を活かす／夫婦の折衷案</a:t>
            </a:r>
            <a:endParaRPr lang="en-US" sz="1250" dirty="0"/>
          </a:p>
        </p:txBody>
      </p:sp>
      <p:sp>
        <p:nvSpPr>
          <p:cNvPr id="26" name="text-243"/>
          <p:cNvSpPr txBox="1"/>
          <p:nvPr/>
        </p:nvSpPr>
        <p:spPr>
          <a:xfrm>
            <a:off x="8275320" y="4754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9,800円 → 3万円</a:t>
            </a:r>
            <a:endParaRPr lang="en-US" sz="1500" dirty="0"/>
          </a:p>
        </p:txBody>
      </p:sp>
      <p:sp>
        <p:nvSpPr>
          <p:cNvPr id="27" name="text-244"/>
          <p:cNvSpPr txBox="1"/>
          <p:nvPr/>
        </p:nvSpPr>
        <p:spPr>
          <a:xfrm>
            <a:off x="8275320" y="51663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「まとめ方を教えます。」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月300万円は「判定＋プラン＋家具販売」で届く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コーディネート料だけでは月49件が必要。家具販売と組み合わせて件数を抑える</a:t>
            </a:r>
            <a:endParaRPr lang="en-US" sz="1500" dirty="0"/>
          </a:p>
        </p:txBody>
      </p:sp>
      <p:graphicFrame>
        <p:nvGraphicFramePr>
          <p:cNvPr id="24" name="table-2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3152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737360"/>
                <a:gridCol w="914400"/>
                <a:gridCol w="1097280"/>
                <a:gridCol w="9144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メニュー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料金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月の件数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収入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工数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0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624"/>
                          </a:solidFill>
                        </a:rPr>
                        <a:t>買う前ジャッジ（部屋まるごと）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624"/>
                          </a:solidFill>
                        </a:rPr>
                        <a:t>9,800円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624"/>
                          </a:solidFill>
                        </a:rPr>
                        <a:t>40件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624"/>
                          </a:solidFill>
                        </a:rPr>
                        <a:t>約39万円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624"/>
                          </a:solidFill>
                        </a:rPr>
                        <a:t>20時間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624"/>
                          </a:solidFill>
                        </a:rPr>
                        <a:t>ライト（1部屋）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624"/>
                          </a:solidFill>
                        </a:rPr>
                        <a:t>3万円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624"/>
                          </a:solidFill>
                        </a:rPr>
                        <a:t>10件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624"/>
                          </a:solidFill>
                        </a:rPr>
                        <a:t>30万円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624"/>
                          </a:solidFill>
                        </a:rPr>
                        <a:t>20時間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624"/>
                          </a:solidFill>
                        </a:rPr>
                        <a:t>スタンダード（LDK）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624"/>
                          </a:solidFill>
                        </a:rPr>
                        <a:t>8万円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624"/>
                          </a:solidFill>
                        </a:rPr>
                        <a:t>8件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624"/>
                          </a:solidFill>
                        </a:rPr>
                        <a:t>64万円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624"/>
                          </a:solidFill>
                        </a:rPr>
                        <a:t>28時間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624"/>
                          </a:solidFill>
                        </a:rPr>
                        <a:t>プレミアム（複数の部屋・訪問）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624"/>
                          </a:solidFill>
                        </a:rPr>
                        <a:t>20万円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624"/>
                          </a:solidFill>
                        </a:rPr>
                        <a:t>2件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624"/>
                          </a:solidFill>
                        </a:rPr>
                        <a:t>40万円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624"/>
                          </a:solidFill>
                        </a:rPr>
                        <a:t>16時間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624"/>
                          </a:solidFill>
                        </a:rPr>
                        <a:t>家具販売の粗利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624"/>
                          </a:solidFill>
                        </a:rPr>
                        <a:t>購入18件×40万円×30%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624"/>
                          </a:solidFill>
                        </a:rPr>
                        <a:t>―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624"/>
                          </a:solidFill>
                        </a:rPr>
                        <a:t>約216万円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624"/>
                          </a:solidFill>
                        </a:rPr>
                        <a:t>―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624"/>
                          </a:solidFill>
                        </a:rPr>
                        <a:t>合計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624"/>
                          </a:solidFill>
                        </a:rPr>
                        <a:t>60件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624"/>
                          </a:solidFill>
                        </a:rPr>
                        <a:t>約390万円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624"/>
                          </a:solidFill>
                        </a:rPr>
                        <a:t>84時間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</a:tr>
            </a:tbl>
          </a:graphicData>
        </a:graphic>
      </p:graphicFrame>
      <p:sp>
        <p:nvSpPr>
          <p:cNvPr id="5" name="card-246"/>
          <p:cNvSpPr/>
          <p:nvPr/>
        </p:nvSpPr>
        <p:spPr>
          <a:xfrm>
            <a:off x="8138160" y="1600200"/>
            <a:ext cx="34747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247"/>
          <p:cNvSpPr txBox="1"/>
          <p:nvPr/>
        </p:nvSpPr>
        <p:spPr>
          <a:xfrm>
            <a:off x="8366760" y="1783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約390万円</a:t>
            </a:r>
            <a:endParaRPr lang="en-US" sz="3400" dirty="0"/>
          </a:p>
        </p:txBody>
      </p:sp>
      <p:sp>
        <p:nvSpPr>
          <p:cNvPr id="7" name="text-248"/>
          <p:cNvSpPr txBox="1"/>
          <p:nvPr/>
        </p:nvSpPr>
        <p:spPr>
          <a:xfrm>
            <a:off x="8366760" y="2560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月の収益（コーディネート料＋家具粗利）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購入率が半分でも約340万円</a:t>
            </a:r>
            <a:endParaRPr lang="en-US" sz="1200" dirty="0"/>
          </a:p>
        </p:txBody>
      </p:sp>
      <p:sp>
        <p:nvSpPr>
          <p:cNvPr id="8" name="card-249"/>
          <p:cNvSpPr/>
          <p:nvPr/>
        </p:nvSpPr>
        <p:spPr>
          <a:xfrm>
            <a:off x="8138160" y="3383280"/>
            <a:ext cx="34747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-250"/>
          <p:cNvSpPr txBox="1"/>
          <p:nvPr/>
        </p:nvSpPr>
        <p:spPr>
          <a:xfrm>
            <a:off x="8366760" y="35661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</a:rPr>
              <a:t>84時間</a:t>
            </a:r>
            <a:endParaRPr lang="en-US" sz="3400" dirty="0"/>
          </a:p>
        </p:txBody>
      </p:sp>
      <p:sp>
        <p:nvSpPr>
          <p:cNvPr id="10" name="text-251"/>
          <p:cNvSpPr txBox="1"/>
          <p:nvPr/>
        </p:nvSpPr>
        <p:spPr>
          <a:xfrm>
            <a:off x="8366760" y="4343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Riekoの月の作業時間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AIなしなら同規模で200時間超</a:t>
            </a:r>
            <a:endParaRPr lang="en-US" sz="1200" dirty="0"/>
          </a:p>
        </p:txBody>
      </p:sp>
      <p:sp>
        <p:nvSpPr>
          <p:cNvPr id="11" name="text-252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671"/>
                </a:solidFill>
              </a:rPr>
              <a:t>試算：家具購入は診断の20%・プランの50%と仮定。収益＝コーディネート料＋家具販売の粗利。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水回りで出会い、判断で選ばれ、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住まい全体で長く付き合う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次の一歩：① 自社実績で試算を置き換える　② 「Riekoのものさし」と商品マスターをつくる　③ 買う前ジャッジを月10件で試す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出典</a:t>
            </a:r>
            <a:endParaRPr lang="en-US" sz="2800" dirty="0"/>
          </a:p>
        </p:txBody>
      </p:sp>
      <p:sp>
        <p:nvSpPr>
          <p:cNvPr id="3" name="text-253"/>
          <p:cNvSpPr txBox="1"/>
          <p:nvPr/>
        </p:nvSpPr>
        <p:spPr>
          <a:xfrm>
            <a:off x="548640" y="1280160"/>
            <a:ext cx="11064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矢野経済研究所「住宅リフォーム市場に関する調査（2026年）」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野村総合研究所「2026〜2040年度の新設住宅着工戸数・リフォーム市場規模予測」、既存住宅流通量予測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国土交通省「住宅着工統計」「建築物リフォーム・リニューアル調査」「令和6年度 住宅市場動向調査」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厚生労働省「2025年 国民生活基礎調査」「毎月勤労統計調査」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総務省「令和5年 住宅・土地統計調査」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住宅リフォーム推進協議会「住宅リフォームに関する消費者実態調査」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東日本不動産流通機構（東日本レインズ）「首都圏不動産流通市場の動向（2025年）」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建設経済研究所「建設経済モデルによる建設投資の見通し」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 TIMES「住まいのインテリアに関する意識調査」「Z世代の部屋づくりとインテリアに関する実態調査」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LIFULL HOME'S（TSMC・ラピダス周辺の賃貸市場）、ミツモア（コーディネーター料金相場）、ANDPAD（リフォーム会社の利益率）</a:t>
            </a:r>
            <a:endParaRPr lang="en-US" sz="1300" dirty="0"/>
          </a:p>
        </p:txBody>
      </p:sp>
      <p:sp>
        <p:nvSpPr>
          <p:cNvPr id="4" name="text-254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※「試算」と記載した数値は、上記データをもとにした仮説値です。自社の実績で検証してください。</a:t>
            </a:r>
            <a:endParaRPr lang="en-US" sz="1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form Strategy">
  <a:themeElements>
    <a:clrScheme name="Reform Strategy">
      <a:dk1>
        <a:srgbClr val="1F2624"/>
      </a:dk1>
      <a:lt1>
        <a:srgbClr val="FFFFFF"/>
      </a:lt1>
      <a:dk2>
        <a:srgbClr val="26403A"/>
      </a:dk2>
      <a:lt2>
        <a:srgbClr val="EEF2F0"/>
      </a:lt2>
      <a:accent1>
        <a:srgbClr val="C0623B"/>
      </a:accent1>
      <a:accent2>
        <a:srgbClr val="7E9C8A"/>
      </a:accent2>
      <a:accent3>
        <a:srgbClr val="D9A441"/>
      </a:accent3>
      <a:accent4>
        <a:srgbClr val="4F6D7A"/>
      </a:accent4>
      <a:accent5>
        <a:srgbClr val="A8B9B0"/>
      </a:accent5>
      <a:accent6>
        <a:srgbClr val="8A5A44"/>
      </a:accent6>
      <a:hlink>
        <a:srgbClr val="4F6D7A"/>
      </a:hlink>
      <a:folHlink>
        <a:srgbClr val="8A5A44"/>
      </a:folHlink>
    </a:clrScheme>
    <a:fontScheme name="Reform Strategy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リフォーム市場分析と事業戦略</dc:title>
  <dc:subject>PptxGenJS Presentation</dc:subject>
  <dc:creator>PptxGenJS</dc:creator>
  <cp:lastModifiedBy>PptxGenJS</cp:lastModifiedBy>
  <cp:revision>1</cp:revision>
  <dcterms:created xsi:type="dcterms:W3CDTF">2026-10-01T23:52:04Z</dcterms:created>
  <dcterms:modified xsi:type="dcterms:W3CDTF">2026-10-01T23:52:04Z</dcterms:modified>
</cp:coreProperties>
</file>