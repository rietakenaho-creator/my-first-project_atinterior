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97838d3f-cad1-773a-307d-e27d76d2af75}">
          <p14:sldIdLst>
            <p14:sldId id="256"/>
            <p14:sldId id="257"/>
            <p14:sldId id="258"/>
          </p14:sldIdLst>
        </p14:section>
        <p14:section name="① オープニング" id="{e4f5e3e3-176d-81b1-db15-5b182c3d9cc2}">
          <p14:sldIdLst>
            <p14:sldId id="259"/>
          </p14:sldIdLst>
        </p14:section>
        <p14:section name="② デザインの歴史" id="{ac727a13-d36d-c2e0-885b-53705c7985da}">
          <p14:sldIdLst>
            <p14:sldId id="260"/>
            <p14:sldId id="261"/>
          </p14:sldIdLst>
        </p14:section>
        <p14:section name="③ スタイルの特徴" id="{4ce63a2d-6b3a-7242-772e-9edeee651a13}">
          <p14:sldIdLst>
            <p14:sldId id="262"/>
            <p14:sldId id="263"/>
          </p14:sldIdLst>
        </p14:section>
        <p14:section name="④ 北欧スタイルの定義" id="{13070844-d179-ef86-e493-81dcf3a0e7a3}">
          <p14:sldIdLst>
            <p14:sldId id="264"/>
          </p14:sldIdLst>
        </p14:section>
        <p14:section name="⑤ マトリックス" id="{1d69af56-7c1e-e794-20b8-1ca681adb9cf}">
          <p14:sldIdLst>
            <p14:sldId id="265"/>
            <p14:sldId id="266"/>
          </p14:sldIdLst>
        </p14:section>
        <p14:section name="⑥ まとめ" id="{2a4372f6-53a9-8511-2878-9376281d6f43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今日は「スタイルを知る」回。お客様のニーズは次回。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貼り出して全員で眺める。着地：同じ北欧でもみんなイメージが違う。だからブランドとして「うちの北欧」を決めておかないと商品も提案もばらつく。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年号より「なぜその国でそうなったか」を1つずつ。話しすぎない。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インテリアスタイルを知る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ワークショップ①　スタイルには背景がある　｜　90分</a:t>
            </a:r>
            <a:endParaRPr lang="en-US" sz="1600" dirty="0"/>
          </a:p>
        </p:txBody>
      </p:sp>
      <p:sp>
        <p:nvSpPr>
          <p:cNvPr id="4" name="motif"/>
          <p:cNvSpPr/>
          <p:nvPr/>
        </p:nvSpPr>
        <p:spPr>
          <a:xfrm>
            <a:off x="7498080" y="45720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今日のゴール：スタイルの背景と定義の必要性を知る</a:t>
            </a:r>
            <a:endParaRPr lang="en-US" sz="2600" dirty="0"/>
          </a:p>
        </p:txBody>
      </p:sp>
      <p:sp>
        <p:nvSpPr>
          <p:cNvPr id="3" name="goal-1"/>
          <p:cNvSpPr/>
          <p:nvPr/>
        </p:nvSpPr>
        <p:spPr>
          <a:xfrm>
            <a:off x="45720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背景がある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774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スタイルは国の環境・文化・デザインの歴史から生まれている</a:t>
            </a:r>
            <a:endParaRPr lang="en-US" sz="1200" dirty="0"/>
          </a:p>
        </p:txBody>
      </p:sp>
      <p:sp>
        <p:nvSpPr>
          <p:cNvPr id="8" name="goal-2"/>
          <p:cNvSpPr/>
          <p:nvPr/>
        </p:nvSpPr>
        <p:spPr>
          <a:xfrm>
            <a:off x="256032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4320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1965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人それぞれ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3774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「北欧」の捉え方は人によって違う。だから定義が必要</a:t>
            </a:r>
            <a:endParaRPr lang="en-US" sz="1200" dirty="0"/>
          </a:p>
        </p:txBody>
      </p:sp>
      <p:sp>
        <p:nvSpPr>
          <p:cNvPr id="13" name="goal-3"/>
          <p:cNvSpPr/>
          <p:nvPr/>
        </p:nvSpPr>
        <p:spPr>
          <a:xfrm>
            <a:off x="466344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4" name="Shape 12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4632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965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軸で整理できる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23774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モダン⇔トラッド、軽い⇔重い。テイストでアレンジもできる</a:t>
            </a:r>
            <a:endParaRPr lang="en-US" sz="1200" dirty="0"/>
          </a:p>
        </p:txBody>
      </p:sp>
      <p:sp>
        <p:nvSpPr>
          <p:cNvPr id="18" name="goal-4"/>
          <p:cNvSpPr/>
          <p:nvPr/>
        </p:nvSpPr>
        <p:spPr>
          <a:xfrm>
            <a:off x="676656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9" name="Shape 17"/>
          <p:cNvSpPr/>
          <p:nvPr/>
        </p:nvSpPr>
        <p:spPr>
          <a:xfrm>
            <a:off x="694944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9494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1965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自分たちを知る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23774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自社商品をマトリックスに置くと、ばらけていることが見える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成果物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北欧スタイルの定義（たたき台）／商品のスタイル書き出しリスト／スタイル分散図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タイムテーブル（90分）</a:t>
            </a:r>
            <a:endParaRPr lang="en-US" sz="2600" dirty="0"/>
          </a:p>
        </p:txBody>
      </p:sp>
      <p:graphicFrame>
        <p:nvGraphicFramePr>
          <p:cNvPr id="4" name="tim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657600"/>
                <a:gridCol w="1645920"/>
                <a:gridCol w="20116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時間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パート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形式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伝わること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0–10分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① オープニング：北欧スタイルってどんなもの？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個人ワーク＋共有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みんなイメージが違う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10–25分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② デザインの歴史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レクチャー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スタイルには背景がある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25–40分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③ スタイルの特徴：重さ・軽さ／モダンとトラッド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レクチャー＋問いかけ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スタイルは軸で整理できる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40–55分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④ 北欧スタイルを定義する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グループワーク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ブランドとしての定義が必要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55–80分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⑤ 自社商品をマトリックスに置く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グループワーク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スタイルがばらけている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80–90分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⑥ まとめ：次回どうするべきか？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全体共有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次回はお客様のニーズへ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34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60分版：②③を合わせて15分、⑤を15分、⑥を5分に短縮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「北欧スタイル」って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どんなものだと思う？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思い浮かぶものを付箋に3つ（色・素材・形・ブランド・部屋のシーン、なんでもOK）　｜　3分</a:t>
            </a:r>
            <a:endParaRPr lang="en-US" sz="1600" dirty="0"/>
          </a:p>
        </p:txBody>
      </p:sp>
      <p:sp>
        <p:nvSpPr>
          <p:cNvPr id="4" name="sticky-0"/>
          <p:cNvSpPr/>
          <p:nvPr/>
        </p:nvSpPr>
        <p:spPr>
          <a:xfrm rot="-240000">
            <a:off x="6400800" y="365760"/>
            <a:ext cx="1051560" cy="82296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 rot="-240000">
            <a:off x="6400800" y="365760"/>
            <a:ext cx="10515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白い部屋</a:t>
            </a:r>
            <a:endParaRPr lang="en-US" sz="1200" dirty="0"/>
          </a:p>
        </p:txBody>
      </p:sp>
      <p:sp>
        <p:nvSpPr>
          <p:cNvPr id="6" name="sticky-1"/>
          <p:cNvSpPr/>
          <p:nvPr/>
        </p:nvSpPr>
        <p:spPr>
          <a:xfrm rot="300000">
            <a:off x="7498080" y="640080"/>
            <a:ext cx="1051560" cy="82296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7" name="Text 5"/>
          <p:cNvSpPr txBox="1"/>
          <p:nvPr/>
        </p:nvSpPr>
        <p:spPr>
          <a:xfrm rot="300000">
            <a:off x="7498080" y="640080"/>
            <a:ext cx="10515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木の家具</a:t>
            </a:r>
            <a:endParaRPr lang="en-US" sz="1200" dirty="0"/>
          </a:p>
        </p:txBody>
      </p:sp>
      <p:sp>
        <p:nvSpPr>
          <p:cNvPr id="8" name="sticky-2"/>
          <p:cNvSpPr/>
          <p:nvPr/>
        </p:nvSpPr>
        <p:spPr>
          <a:xfrm rot="180000">
            <a:off x="6766560" y="1143000"/>
            <a:ext cx="1051560" cy="82296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 rot="180000">
            <a:off x="6766560" y="1143000"/>
            <a:ext cx="10515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テキスタイル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② デザインの歴史　15分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宮廷の家具から、みんなの家具へ</a:t>
            </a:r>
            <a:endParaRPr lang="en-US" sz="2600" dirty="0"/>
          </a:p>
        </p:txBody>
      </p:sp>
      <p:sp>
        <p:nvSpPr>
          <p:cNvPr id="4" name="timeline-axis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54680" y="1097280"/>
            <a:ext cx="822960" cy="32004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154680" y="109728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転換点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891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古代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ローマ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古典様式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44475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5156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15–16C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イタリア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ルネサンス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45059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05740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17–18C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05740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フランス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05740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バロック・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ロココ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456432" y="2084832"/>
            <a:ext cx="219456" cy="21945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06324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18C後半–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06324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イギリス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06324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産業革命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6227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06908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19C後半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06908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イギリス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06908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アーツ＆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クラフツ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6811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07492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1890s–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07492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フランス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07492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アール・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ヌーヴォー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7395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08076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1919–33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08076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ドイツ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08076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バウハウス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479792" y="2084832"/>
            <a:ext cx="219456" cy="21945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08660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1930–60s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708660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北欧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08660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北欧モダン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48563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09244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1950–80s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809244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イタリア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809244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イタリアン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モダン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520440"/>
            <a:ext cx="82296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装飾の多い「宮廷・貴族のための家具」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→ 産業革命で機械生産が始まり「みんなのための家具」へ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→ 国ごとの環境・文化の違いから、それぞれのモダンが生まれた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② デザインの歴史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国の環境と文化が、スタイルの特徴をつくる</a:t>
            </a:r>
            <a:endParaRPr lang="en-US" sz="2600" dirty="0"/>
          </a:p>
        </p:txBody>
      </p:sp>
      <p:sp>
        <p:nvSpPr>
          <p:cNvPr id="4" name="country-0"/>
          <p:cNvSpPr/>
          <p:nvPr/>
        </p:nvSpPr>
        <p:spPr>
          <a:xfrm>
            <a:off x="457200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フランス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宮廷文化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94560"/>
            <a:ext cx="1280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曲線・装飾・金や彫刻。優雅で華やか（ロココ、アール・ヌーヴォー）</a:t>
            </a:r>
            <a:endParaRPr lang="en-US" sz="1200" dirty="0"/>
          </a:p>
        </p:txBody>
      </p:sp>
      <p:sp>
        <p:nvSpPr>
          <p:cNvPr id="8" name="country-1"/>
          <p:cNvSpPr/>
          <p:nvPr/>
        </p:nvSpPr>
        <p:spPr>
          <a:xfrm>
            <a:off x="2139696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76856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イタリア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276856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古典と工業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276856" y="2194560"/>
            <a:ext cx="1280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比例と調和。戦後は新素材と大胆な造形・色</a:t>
            </a:r>
            <a:endParaRPr lang="en-US" sz="1200" dirty="0"/>
          </a:p>
        </p:txBody>
      </p:sp>
      <p:sp>
        <p:nvSpPr>
          <p:cNvPr id="12" name="country-2"/>
          <p:cNvSpPr/>
          <p:nvPr/>
        </p:nvSpPr>
        <p:spPr>
          <a:xfrm>
            <a:off x="3822192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959352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イギリス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959352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産業革命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959352" y="2194560"/>
            <a:ext cx="1280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量産の始まりと、その反発としての手仕事（アーツ＆クラフツ）</a:t>
            </a:r>
            <a:endParaRPr lang="en-US" sz="1200" dirty="0"/>
          </a:p>
        </p:txBody>
      </p:sp>
      <p:sp>
        <p:nvSpPr>
          <p:cNvPr id="16" name="country-3"/>
          <p:cNvSpPr/>
          <p:nvPr/>
        </p:nvSpPr>
        <p:spPr>
          <a:xfrm>
            <a:off x="5504688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41848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ドイツ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641848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合理と工業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41848" y="2194560"/>
            <a:ext cx="1280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形態は機能に従う。直線・無装飾（バウハウス）</a:t>
            </a:r>
            <a:endParaRPr lang="en-US" sz="1200" dirty="0"/>
          </a:p>
        </p:txBody>
      </p:sp>
      <p:sp>
        <p:nvSpPr>
          <p:cNvPr id="20" name="country-4"/>
          <p:cNvSpPr/>
          <p:nvPr/>
        </p:nvSpPr>
        <p:spPr>
          <a:xfrm>
            <a:off x="7187184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24344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北欧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324344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長い冬と森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324344" y="2194560"/>
            <a:ext cx="1280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室内で過ごす時間が長い。木の温もり、明るさ、使いやすさ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③ スタイルの特徴　15分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スタイルは2つの軸で整理できる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39776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横軸：モダン系 ⇔ トラッド系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トラディショナル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モダン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148840"/>
            <a:ext cx="1691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曲線・装飾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伝統的な素材と技法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重厚な仕上げ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14600" y="2148840"/>
            <a:ext cx="1691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直線・無装飾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新素材（スチール・合板）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機能を優先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1143000"/>
            <a:ext cx="39776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縦軸：重い ⇔ 軽い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重い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軽い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2148840"/>
            <a:ext cx="1691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濃い色・深いトーン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量感のある形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太い脚、装飾が多い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2148840"/>
            <a:ext cx="1691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淡い色・明るいトーン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細い脚、抜け感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装飾が少ない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問いかけ：さっき書いた付箋は、重い？　軽い？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③ スタイルの特徴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スタイルはテイストでアレンジできる</a:t>
            </a:r>
            <a:endParaRPr lang="en-US" sz="2600" dirty="0"/>
          </a:p>
        </p:txBody>
      </p:sp>
      <p:sp>
        <p:nvSpPr>
          <p:cNvPr id="4" name="taste-0"/>
          <p:cNvSpPr/>
          <p:nvPr/>
        </p:nvSpPr>
        <p:spPr>
          <a:xfrm>
            <a:off x="731520" y="1234440"/>
            <a:ext cx="2194560" cy="21945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ヴィンテージ寄り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チーク・濃い木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深いトーン</a:t>
            </a:r>
            <a:endParaRPr lang="en-US" sz="1200" dirty="0"/>
          </a:p>
        </p:txBody>
      </p:sp>
      <p:sp>
        <p:nvSpPr>
          <p:cNvPr id="7" name="taste-1"/>
          <p:cNvSpPr/>
          <p:nvPr/>
        </p:nvSpPr>
        <p:spPr>
          <a:xfrm>
            <a:off x="3474720" y="1234440"/>
            <a:ext cx="2194560" cy="21945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7472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北欧スタイル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286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木・明るさ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使いやすさ</a:t>
            </a:r>
            <a:endParaRPr lang="en-US" sz="1200" dirty="0"/>
          </a:p>
        </p:txBody>
      </p:sp>
      <p:sp>
        <p:nvSpPr>
          <p:cNvPr id="10" name="taste-2"/>
          <p:cNvSpPr/>
          <p:nvPr/>
        </p:nvSpPr>
        <p:spPr>
          <a:xfrm>
            <a:off x="6217920" y="1234440"/>
            <a:ext cx="2194560" cy="21945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ナチュラル寄り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286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オーク・白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淡いトーン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94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同じ「北欧」でもブランドごとに位置が違う。既存ブランドを例に「このブランドの北欧はどの位置？」と問いかける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④ グループワーク　15分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北欧といっても、定義を決めないといけない</a:t>
            </a:r>
            <a:endParaRPr lang="en-US" sz="2600" dirty="0"/>
          </a:p>
        </p:txBody>
      </p:sp>
      <p:graphicFrame>
        <p:nvGraphicFramePr>
          <p:cNvPr id="10" name="define-she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37360"/>
                <a:gridCol w="2834640"/>
                <a:gridCol w="21945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項目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考えること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書き込み例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うちのブランドでは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歴史・背景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なぜ生まれたか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長い冬を室内で心地よく過ごすため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デザインの特徴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形・素材・つくり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木、細い脚、丸みのあるシンプルな形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色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ベースとアクセント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白・グレー・木の色＋くすみカラー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色の重さ・トーン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明度・彩度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明るく、彩度は低め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イメージ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一言で言うと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明るく、温かく、長く使える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最後に①の付箋と比べて「最初のイメージとどこが違った？」を一言ずつ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⑤ グループワーク　25分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自社商品はどこに集まり、どこがばらけているか</a:t>
            </a:r>
            <a:endParaRPr lang="en-US" sz="2600" dirty="0"/>
          </a:p>
        </p:txBody>
      </p:sp>
      <p:sp>
        <p:nvSpPr>
          <p:cNvPr id="4" name="matrix-bg"/>
          <p:cNvSpPr/>
          <p:nvPr/>
        </p:nvSpPr>
        <p:spPr>
          <a:xfrm>
            <a:off x="1097280" y="1051560"/>
            <a:ext cx="6949440" cy="35661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2834640"/>
            <a:ext cx="694944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headEnd type="triangl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572000" y="1051560"/>
            <a:ext cx="0" cy="356616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headEnd type="triangle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1188720" y="2907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トラディショナル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907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モダン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1247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軽い（淡い色・細い脚）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重い（濃い色・量感・装飾）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03520" y="155448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0352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北欧モダン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210312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6035040" y="21031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ナチュラル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303520" y="333756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303520" y="33375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インダストリアル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388620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603504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イタリアンモダン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28800" y="155448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182880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フレンチカントリー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377440" y="210312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2377440" y="21031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ロココ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828800" y="333756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1828800" y="33375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ヴィクトリアン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377440" y="388620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237744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バロック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点線は位置の例（当日の議論で動かしてOK）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⑤ グループワーク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ワークの進め方</a:t>
            </a:r>
            <a:endParaRPr lang="en-US" sz="2600" dirty="0"/>
          </a:p>
        </p:txBody>
      </p:sp>
      <p:sp>
        <p:nvSpPr>
          <p:cNvPr id="4" name="step-0"/>
          <p:cNvSpPr/>
          <p:nvPr/>
        </p:nvSpPr>
        <p:spPr>
          <a:xfrm>
            <a:off x="457200" y="118872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STEP 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10分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37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書き出す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商品開発部の商品を書き出し、各商品が「どのスタイルか」を付箋に書く</a:t>
            </a:r>
            <a:endParaRPr lang="en-US" sz="1300" dirty="0"/>
          </a:p>
        </p:txBody>
      </p:sp>
      <p:sp>
        <p:nvSpPr>
          <p:cNvPr id="9" name="step-1"/>
          <p:cNvSpPr/>
          <p:nvPr/>
        </p:nvSpPr>
        <p:spPr>
          <a:xfrm>
            <a:off x="3246120" y="118872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74720" y="1371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STEP 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10分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1737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置く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マトリックスに付箋を貼る。北欧と言っている商品はどこに来るか</a:t>
            </a:r>
            <a:endParaRPr lang="en-US" sz="1300" dirty="0"/>
          </a:p>
        </p:txBody>
      </p:sp>
      <p:sp>
        <p:nvSpPr>
          <p:cNvPr id="14" name="step-2"/>
          <p:cNvSpPr/>
          <p:nvPr/>
        </p:nvSpPr>
        <p:spPr>
          <a:xfrm>
            <a:off x="6035040" y="118872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63640" y="1371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STEP 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5分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1737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気づく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眺めて共有。「北欧のつもりがばらけている」「この象限が空いている」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素材例：リビングの商品リスト（product_list_living.xlsx）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では、次回どうするべきか？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・スタイルには背景がある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・イメージは人それぞれだから、定義が必要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・自社商品はスタイルが分散している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次回：お客様のニーズを知り、ブランドとして提案するスタイルを決める</a:t>
            </a:r>
            <a:endParaRPr lang="en-US" sz="1600" dirty="0"/>
          </a:p>
        </p:txBody>
      </p:sp>
      <p:sp>
        <p:nvSpPr>
          <p:cNvPr id="4" name="motif"/>
          <p:cNvSpPr/>
          <p:nvPr/>
        </p:nvSpPr>
        <p:spPr>
          <a:xfrm>
            <a:off x="7498080" y="45720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Nordic Workshop">
  <a:themeElements>
    <a:clrScheme name="Nordic Workshop">
      <a:dk1>
        <a:srgbClr val="2B2B2B"/>
      </a:dk1>
      <a:lt1>
        <a:srgbClr val="FFFFFF"/>
      </a:lt1>
      <a:dk2>
        <a:srgbClr val="2F3E38"/>
      </a:dk2>
      <a:lt2>
        <a:srgbClr val="EEF2EF"/>
      </a:lt2>
      <a:accent1>
        <a:srgbClr val="B8875A"/>
      </a:accent1>
      <a:accent2>
        <a:srgbClr val="D9734E"/>
      </a:accent2>
      <a:accent3>
        <a:srgbClr val="6F8F7E"/>
      </a:accent3>
      <a:accent4>
        <a:srgbClr val="8A9BA8"/>
      </a:accent4>
      <a:accent5>
        <a:srgbClr val="C9B79C"/>
      </a:accent5>
      <a:accent6>
        <a:srgbClr val="5B6B73"/>
      </a:accent6>
      <a:hlink>
        <a:srgbClr val="2F6F8F"/>
      </a:hlink>
      <a:folHlink>
        <a:srgbClr val="6F4E7C"/>
      </a:folHlink>
    </a:clrScheme>
    <a:fontScheme name="Nordic Workshop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ワークショップ① インテリアスタイルを知る</dc:title>
  <dc:subject>PptxGenJS Presentation</dc:subject>
  <dc:creator>PptxGenJS</dc:creator>
  <cp:lastModifiedBy>PptxGenJS</cp:lastModifiedBy>
  <cp:revision>1</cp:revision>
  <dcterms:created xsi:type="dcterms:W3CDTF">2026-10-26T08:17:39Z</dcterms:created>
  <dcterms:modified xsi:type="dcterms:W3CDTF">2026-10-26T08:17:39Z</dcterms:modified>
</cp:coreProperties>
</file>