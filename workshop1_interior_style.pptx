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2171b63a-f2b6-5b13-dd1d-68c361817b27}">
          <p14:sldIdLst>
            <p14:sldId id="256"/>
            <p14:sldId id="257"/>
            <p14:sldId id="258"/>
            <p14:sldId id="259"/>
            <p14:sldId id="260"/>
          </p14:sldIdLst>
        </p14:section>
        <p14:section name="① オープニング" id="{6d82a281-f612-8efa-2877-2bc8a8ac5f2e}">
          <p14:sldIdLst>
            <p14:sldId id="261"/>
          </p14:sldIdLst>
        </p14:section>
        <p14:section name="② デザインの歴史" id="{c45ebc28-0676-0f47-9cb4-5e1a1c94180f}">
          <p14:sldIdLst>
            <p14:sldId id="262"/>
            <p14:sldId id="263"/>
            <p14:sldId id="264"/>
          </p14:sldIdLst>
        </p14:section>
        <p14:section name="③ スタイルの特徴" id="{6f74b394-3870-5b66-aaf6-ea88e69bd018}">
          <p14:sldIdLst>
            <p14:sldId id="265"/>
            <p14:sldId id="266"/>
            <p14:sldId id="267"/>
          </p14:sldIdLst>
        </p14:section>
        <p14:section name="④ 北欧スタイルの定義" id="{ada9015e-8c7b-338c-6a86-8caf2334c3a0}">
          <p14:sldIdLst>
            <p14:sldId id="268"/>
          </p14:sldIdLst>
        </p14:section>
        <p14:section name="⑤ マトリックス" id="{138483bf-77ba-8256-537e-3fa03ed7b0cc}">
          <p14:sldIdLst>
            <p14:sldId id="269"/>
            <p14:sldId id="270"/>
          </p14:sldIdLst>
        </p14:section>
        <p14:section name="⑥ まとめ" id="{85aeaa80-e1de-d593-2c4c-7e94aac9e49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問いかけ：「自分の部屋のインテリアに自信がある人？」と手を挙げてもらってから数字を見せる。センスに自信がない人の内訳（2024年）は「あまりないと思う」が約半数、「全くないと思う」11.5％。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配布用の別紙。レクチャーでは各国1人ずつ代表的な家具を紹介する程度でOK。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問いかけ：「みんなの思う北欧はどこ？」付箋を置いてもらってから、北欧モダンと北欧ビンテージの位置を見せる。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rtimes.jp/main/html/rd/p/000000026.000062185.html" TargetMode="External"/><Relationship Id="rId2" Type="http://schemas.openxmlformats.org/officeDocument/2006/relationships/hyperlink" Target="https://prtimes.jp/main/html/rd/p/000000059.000062185.html" TargetMode="External"/><Relationship Id="rId3" Type="http://schemas.openxmlformats.org/officeDocument/2006/relationships/hyperlink" Target="https://prtimes.jp/main/html/rd/p/000000075.000062185.html" TargetMode="External"/><Relationship Id="rId4" Type="http://schemas.openxmlformats.org/officeDocument/2006/relationships/hyperlink" Target="https://www.myvoice.co.jp/biz/surveys/32306/index.html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large"/>
          <p:cNvSpPr/>
          <p:nvPr/>
        </p:nvSpPr>
        <p:spPr>
          <a:xfrm>
            <a:off x="6400800" y="320040"/>
            <a:ext cx="2011680" cy="2011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motif-small"/>
          <p:cNvSpPr/>
          <p:nvPr/>
        </p:nvSpPr>
        <p:spPr>
          <a:xfrm>
            <a:off x="7680960" y="16002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インテリアに興味はある。でも、自信はない</a:t>
            </a:r>
            <a:endParaRPr lang="en-US" sz="2600" dirty="0"/>
          </a:p>
        </p:txBody>
      </p:sp>
      <p:sp>
        <p:nvSpPr>
          <p:cNvPr id="4" name="stat-0"/>
          <p:cNvSpPr/>
          <p:nvPr/>
        </p:nvSpPr>
        <p:spPr>
          <a:xfrm>
            <a:off x="45720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インテリアに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こだわりたい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2022年調査</a:t>
            </a:r>
            <a:endParaRPr lang="en-US" sz="1000" dirty="0"/>
          </a:p>
        </p:txBody>
      </p:sp>
      <p:sp>
        <p:nvSpPr>
          <p:cNvPr id="8" name="stat-1"/>
          <p:cNvSpPr/>
          <p:nvPr/>
        </p:nvSpPr>
        <p:spPr>
          <a:xfrm>
            <a:off x="324612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約6割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自分にインテリアの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センスがないと思う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2" name="stat-2"/>
          <p:cNvSpPr/>
          <p:nvPr/>
        </p:nvSpPr>
        <p:spPr>
          <a:xfrm>
            <a:off x="603504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理想のテイストを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実現できていない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自宅に近いテイスト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1位 ナチュラル　2位 北欧風　3位 シンプル　（2024年）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インテリアで重視すること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「使いやすく、機能的」「見た目がすっきり」が各30％台　（2025年）</a:t>
            </a:r>
            <a:endParaRPr lang="en-US" sz="1300" dirty="0"/>
          </a:p>
        </p:txBody>
      </p:sp>
      <p:sp>
        <p:nvSpPr>
          <p:cNvPr id="17" name="sources"/>
          <p:cNvSpPr txBox="1"/>
          <p:nvPr/>
        </p:nvSpPr>
        <p:spPr>
          <a:xfrm>
            <a:off x="45720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出典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・一条工務店「住まいのインテリアに関する意識調査」2022年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2024」2024年5月（全国766人）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2025」2025年7月発表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・マイボイスコム「インテリアのアンケート調査（10）」2025年6月（11,669人）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だから今、ブランドがスタイルを提案する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64008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興味はある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7割以上が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こだわりたい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5059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flow-1"/>
          <p:cNvSpPr/>
          <p:nvPr/>
        </p:nvSpPr>
        <p:spPr>
          <a:xfrm>
            <a:off x="265176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でも自信がない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約6割がセンスに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自信なし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6227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1" name="flow-2"/>
          <p:cNvSpPr/>
          <p:nvPr/>
        </p:nvSpPr>
        <p:spPr>
          <a:xfrm>
            <a:off x="466344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無難を選ぶ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ナチュラル・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シンプルなど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ベーシックが上位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flow-3"/>
          <p:cNvSpPr/>
          <p:nvPr/>
        </p:nvSpPr>
        <p:spPr>
          <a:xfrm>
            <a:off x="667512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ブランドが提案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スタイルを定義して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提案し、お客様と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一緒に学ぶ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ベーシックが人気なのは、「好きだから」だけでなく「無難だから」でもある。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まだ多くの人が自分でコーディネートできない今は、ブランドが提案し、一緒に学んでいく時期。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だから私たちが、スタイルを知る必要がある。</a:t>
            </a:r>
            <a:endParaRPr lang="en-US" sz="1400" dirty="0"/>
          </a:p>
        </p:txBody>
      </p:sp>
      <p:sp>
        <p:nvSpPr>
          <p:cNvPr id="19" name="sources"/>
          <p:cNvSpPr txBox="1"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出典：一条工務店 インテリア意識調査（2022・2024・2025年）、マイボイスコム（2025年）　※「無難だから」はデータからの解釈</a:t>
            </a:r>
            <a:endParaRPr lang="en-US" sz="90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6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別紙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国ごとの時代の雰囲気と、代表的な運動・デザイナー</a:t>
            </a:r>
            <a:endParaRPr lang="en-US" sz="2600" dirty="0"/>
          </a:p>
        </p:txBody>
      </p:sp>
      <p:graphicFrame>
        <p:nvGraphicFramePr>
          <p:cNvPr id="10" name="country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国の特徴・時代の雰囲気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代表的なデザイン運動・様式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フランス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絶対王政の宮廷文化。華やかさと優雅さ。19世紀末からはパリが芸術の中心に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バロック・ロココ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アール・ヌーヴォー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アール・デコ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エクトール・ギマール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ジャック＝エミール・ルールマン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シャルロット・ペリアン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イタリア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古代ローマ・ルネサンスの伝統。戦後の工業化と高度成長、ミラノが拠点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ルネサンス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イタリアンモダン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メンフィス（1981〜）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ジオ・ポンティ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ジョエ・コロンボ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エットーレ・ソットサス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イギリス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世界で最初の産業革命。ヴィクトリア朝の繁栄と、粗悪な量産品への反発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ジョージアン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ヴィクトリアン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アーツ・アンド・クラフツ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トーマス・チッペンデール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ウィリアム・モリス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C・R・マッキントッシュ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ドイツ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第一次大戦後の再建。工業と合理主義、新しい社会のための造形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ドイツ工作連盟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バウハウス（1919〜1933）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ヴァルター・グロピウス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ミース・ファン・デル・ローエ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マルセル・ブロイヤー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北欧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長く暗い冬と豊かな森。家で過ごす時間が長く、誰もが良い暮らしを、という福祉社会の考え方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北欧モダン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（スカンジナビアンモダン）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アルヴァ・アアルト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アルネ・ヤコブセン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ハンス・J・ウェグナー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北欧スタイルはどこ？</a:t>
            </a:r>
            <a:endParaRPr lang="en-US" sz="2600" dirty="0"/>
          </a:p>
        </p:txBody>
      </p:sp>
      <p:sp>
        <p:nvSpPr>
          <p:cNvPr id="4" name="map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tyle-dot-0"/>
          <p:cNvSpPr/>
          <p:nvPr/>
        </p:nvSpPr>
        <p:spPr>
          <a:xfrm>
            <a:off x="6135624" y="171907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style-label-0"/>
          <p:cNvSpPr txBox="1"/>
          <p:nvPr/>
        </p:nvSpPr>
        <p:spPr>
          <a:xfrm>
            <a:off x="6409944" y="1600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tyle-dot-1"/>
          <p:cNvSpPr/>
          <p:nvPr/>
        </p:nvSpPr>
        <p:spPr>
          <a:xfrm>
            <a:off x="6976872" y="222199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4" name="style-label-1"/>
          <p:cNvSpPr txBox="1"/>
          <p:nvPr/>
        </p:nvSpPr>
        <p:spPr>
          <a:xfrm>
            <a:off x="7251192" y="2103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シンプル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5" name="style-dot-2"/>
          <p:cNvSpPr/>
          <p:nvPr/>
        </p:nvSpPr>
        <p:spPr>
          <a:xfrm>
            <a:off x="5513832" y="240487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style-label-2"/>
          <p:cNvSpPr txBox="1"/>
          <p:nvPr/>
        </p:nvSpPr>
        <p:spPr>
          <a:xfrm>
            <a:off x="5788152" y="2286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マンハッタン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7" name="style-dot-3"/>
          <p:cNvSpPr/>
          <p:nvPr/>
        </p:nvSpPr>
        <p:spPr>
          <a:xfrm>
            <a:off x="3419856" y="2560320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8" name="style-label-3"/>
          <p:cNvSpPr txBox="1"/>
          <p:nvPr/>
        </p:nvSpPr>
        <p:spPr>
          <a:xfrm>
            <a:off x="2130552" y="24414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シーサイド</a:t>
            </a:r>
            <a:endParaRPr lang="en-US" sz="1100" dirty="0"/>
          </a:p>
        </p:txBody>
      </p:sp>
      <p:sp>
        <p:nvSpPr>
          <p:cNvPr id="19" name="style-dot-4"/>
          <p:cNvSpPr/>
          <p:nvPr/>
        </p:nvSpPr>
        <p:spPr>
          <a:xfrm>
            <a:off x="4032504" y="2980944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style-label-4"/>
          <p:cNvSpPr txBox="1"/>
          <p:nvPr/>
        </p:nvSpPr>
        <p:spPr>
          <a:xfrm>
            <a:off x="2743200" y="28620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BOHO</a:t>
            </a:r>
            <a:endParaRPr lang="en-US" sz="1100" dirty="0"/>
          </a:p>
        </p:txBody>
      </p:sp>
      <p:sp>
        <p:nvSpPr>
          <p:cNvPr id="21" name="style-dot-5"/>
          <p:cNvSpPr/>
          <p:nvPr/>
        </p:nvSpPr>
        <p:spPr>
          <a:xfrm>
            <a:off x="5742432" y="327355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style-label-5"/>
          <p:cNvSpPr txBox="1"/>
          <p:nvPr/>
        </p:nvSpPr>
        <p:spPr>
          <a:xfrm>
            <a:off x="6016752" y="3154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ジャパニーズ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23" name="style-dot-6"/>
          <p:cNvSpPr/>
          <p:nvPr/>
        </p:nvSpPr>
        <p:spPr>
          <a:xfrm>
            <a:off x="4288536" y="368503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4" name="style-label-6"/>
          <p:cNvSpPr txBox="1"/>
          <p:nvPr/>
        </p:nvSpPr>
        <p:spPr>
          <a:xfrm>
            <a:off x="2999232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25" name="style-dot-7"/>
          <p:cNvSpPr/>
          <p:nvPr/>
        </p:nvSpPr>
        <p:spPr>
          <a:xfrm>
            <a:off x="4663440" y="3941064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style-label-7"/>
          <p:cNvSpPr txBox="1"/>
          <p:nvPr/>
        </p:nvSpPr>
        <p:spPr>
          <a:xfrm>
            <a:off x="4937760" y="38221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北欧ビンテージ</a:t>
            </a:r>
            <a:endParaRPr lang="en-US" sz="1100" dirty="0"/>
          </a:p>
        </p:txBody>
      </p:sp>
      <p:sp>
        <p:nvSpPr>
          <p:cNvPr id="27" name="nordic-note"/>
          <p:cNvSpPr txBox="1"/>
          <p:nvPr/>
        </p:nvSpPr>
        <p:spPr>
          <a:xfrm>
            <a:off x="12344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同じ「北欧」でも、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軽いモダンから重いビンテージまで幅がある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4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2026-10-26T15:08:24Z</dcterms:created>
  <dcterms:modified xsi:type="dcterms:W3CDTF">2026-10-26T15:08:24Z</dcterms:modified>
</cp:coreProperties>
</file>