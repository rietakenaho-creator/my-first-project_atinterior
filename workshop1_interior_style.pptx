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a715fe0f-6d07-fb99-a6b2-a62e00c0adc2}">
          <p14:sldIdLst>
            <p14:sldId id="256"/>
            <p14:sldId id="257"/>
            <p14:sldId id="258"/>
            <p14:sldId id="259"/>
            <p14:sldId id="260"/>
          </p14:sldIdLst>
        </p14:section>
        <p14:section name="① オープニング" id="{b2fb76ef-2485-3ecd-d29d-7c971fa85012}">
          <p14:sldIdLst>
            <p14:sldId id="261"/>
          </p14:sldIdLst>
        </p14:section>
        <p14:section name="② デザインの歴史" id="{32c0597f-edad-785a-7363-ae2371ceb3df}">
          <p14:sldIdLst>
            <p14:sldId id="262"/>
            <p14:sldId id="263"/>
            <p14:sldId id="264"/>
          </p14:sldIdLst>
        </p14:section>
        <p14:section name="③ スタイルの特徴" id="{9bdb4e47-927b-b7f1-46d6-d2716035de21}">
          <p14:sldIdLst>
            <p14:sldId id="265"/>
            <p14:sldId id="266"/>
          </p14:sldIdLst>
        </p14:section>
        <p14:section name="④ 北欧スタイルの定義" id="{48338da0-c243-ab5a-0760-a6d34fbff339}">
          <p14:sldIdLst>
            <p14:sldId id="267"/>
          </p14:sldIdLst>
        </p14:section>
        <p14:section name="⑤ マトリックス" id="{057c0f8c-7037-f526-20c8-4fd16424fd83}">
          <p14:sldIdLst>
            <p14:sldId id="268"/>
            <p14:sldId id="269"/>
          </p14:sldIdLst>
        </p14:section>
        <p14:section name="⑥ まとめ" id="{f55e73dc-baa3-93c9-1bc2-5c8f4fb5fb0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今日は「スタイルを知る」回。お客様のニーズは次回。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問いかけ：「自分の部屋のインテリアに自信がある人？」と手を挙げてもらってから数字を見せる。センスに自信がない人の内訳（2024年）は「あまりないと思う」が約半数、「全くないと思う」11.5％。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貼り出して全員で眺める。着地：同じ北欧でもみんなイメージが違う。だからブランドとして「うちの北欧」を決めておかないと商品も提案もばらつく。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年号より「なぜその国でそうなったか」を1つずつ。話しすぎない。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配布用の別紙。レクチャーでは各国1人ずつ代表的な家具を紹介する程度でOK。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rtimes.jp/main/html/rd/p/000000026.000062185.html" TargetMode="External"/><Relationship Id="rId2" Type="http://schemas.openxmlformats.org/officeDocument/2006/relationships/hyperlink" Target="https://prtimes.jp/main/html/rd/p/000000059.000062185.html" TargetMode="External"/><Relationship Id="rId3" Type="http://schemas.openxmlformats.org/officeDocument/2006/relationships/hyperlink" Target="https://prtimes.jp/main/html/rd/p/000000075.000062185.html" TargetMode="External"/><Relationship Id="rId4" Type="http://schemas.openxmlformats.org/officeDocument/2006/relationships/hyperlink" Target="https://www.myvoice.co.jp/biz/surveys/32306/index.html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large"/>
          <p:cNvSpPr/>
          <p:nvPr/>
        </p:nvSpPr>
        <p:spPr>
          <a:xfrm>
            <a:off x="6400800" y="320040"/>
            <a:ext cx="2011680" cy="2011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motif-small"/>
          <p:cNvSpPr/>
          <p:nvPr/>
        </p:nvSpPr>
        <p:spPr>
          <a:xfrm>
            <a:off x="7680960" y="16002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インテリアスタイルを知る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ワークショップ①　スタイルには背景がある　｜　90分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アイスブレーク　データで見る今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インテリアに興味はある。でも、自信はない</a:t>
            </a:r>
            <a:endParaRPr lang="en-US" sz="2600" dirty="0"/>
          </a:p>
        </p:txBody>
      </p:sp>
      <p:sp>
        <p:nvSpPr>
          <p:cNvPr id="4" name="stat-0"/>
          <p:cNvSpPr/>
          <p:nvPr/>
        </p:nvSpPr>
        <p:spPr>
          <a:xfrm>
            <a:off x="45720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インテリアに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こだわりたい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2022年調査</a:t>
            </a:r>
            <a:endParaRPr lang="en-US" sz="1000" dirty="0"/>
          </a:p>
        </p:txBody>
      </p:sp>
      <p:sp>
        <p:nvSpPr>
          <p:cNvPr id="8" name="stat-1"/>
          <p:cNvSpPr/>
          <p:nvPr/>
        </p:nvSpPr>
        <p:spPr>
          <a:xfrm>
            <a:off x="324612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472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約6割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自分にインテリアの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センスがないと思う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2" name="stat-2"/>
          <p:cNvSpPr/>
          <p:nvPr/>
        </p:nvSpPr>
        <p:spPr>
          <a:xfrm>
            <a:off x="603504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理想のテイストを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実現できていない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自宅に近いテイスト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1位 ナチュラル　2位 北欧風　3位 シンプル　（2024年）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インテリアで重視すること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「使いやすく、機能的」「見た目がすっきり」が各30％台　（2025年）</a:t>
            </a:r>
            <a:endParaRPr lang="en-US" sz="1300" dirty="0"/>
          </a:p>
        </p:txBody>
      </p:sp>
      <p:sp>
        <p:nvSpPr>
          <p:cNvPr id="17" name="sources"/>
          <p:cNvSpPr txBox="1"/>
          <p:nvPr/>
        </p:nvSpPr>
        <p:spPr>
          <a:xfrm>
            <a:off x="457200" y="3840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出典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・一条工務店「住まいのインテリアに関する意識調査」2022年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2024」2024年5月（全国766人）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2025」2025年7月発表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・マイボイスコム「インテリアのアンケート調査（10）」2025年6月（11,669人）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だから今、ブランドがスタイルを提案する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64008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興味はある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7割以上が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こだわりたい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5059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7" name="flow-1"/>
          <p:cNvSpPr/>
          <p:nvPr/>
        </p:nvSpPr>
        <p:spPr>
          <a:xfrm>
            <a:off x="265176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でも自信がない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約6割がセンスに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自信なし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6227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1" name="flow-2"/>
          <p:cNvSpPr/>
          <p:nvPr/>
        </p:nvSpPr>
        <p:spPr>
          <a:xfrm>
            <a:off x="466344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無難を選ぶ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ナチュラル・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シンプルなど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ベーシックが上位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7395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5" name="flow-3"/>
          <p:cNvSpPr/>
          <p:nvPr/>
        </p:nvSpPr>
        <p:spPr>
          <a:xfrm>
            <a:off x="667512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ブランドが提案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スタイルを定義して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提案し、お客様と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一緒に学ぶ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290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ベーシックが人気なのは、「好きだから」だけでなく「無難だから」でもある。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まだ多くの人が自分でコーディネートできない今は、ブランドが提案し、一緒に学んでいく時期。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だから私たちが、スタイルを知る必要がある。</a:t>
            </a:r>
            <a:endParaRPr lang="en-US" sz="1400" dirty="0"/>
          </a:p>
        </p:txBody>
      </p:sp>
      <p:sp>
        <p:nvSpPr>
          <p:cNvPr id="19" name="sources"/>
          <p:cNvSpPr txBox="1"/>
          <p:nvPr/>
        </p:nvSpPr>
        <p:spPr>
          <a:xfrm>
            <a:off x="64008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出典：一条工務店 インテリア意識調査（2022・2024・2025年）、マイボイスコム（2025年）　※「無難だから」はデータからの解釈</a:t>
            </a:r>
            <a:endParaRPr lang="en-US" sz="90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今日のゴール：スタイルの背景と定義の必要性を知る</a:t>
            </a:r>
            <a:endParaRPr lang="en-US" sz="2600" dirty="0"/>
          </a:p>
        </p:txBody>
      </p:sp>
      <p:sp>
        <p:nvSpPr>
          <p:cNvPr id="3" name="goal-1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背景がある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スタイルは国の環境・文化・デザインの歴史から生まれている</a:t>
            </a:r>
            <a:endParaRPr lang="en-US" sz="1200" dirty="0"/>
          </a:p>
        </p:txBody>
      </p:sp>
      <p:sp>
        <p:nvSpPr>
          <p:cNvPr id="8" name="goal-2"/>
          <p:cNvSpPr/>
          <p:nvPr/>
        </p:nvSpPr>
        <p:spPr>
          <a:xfrm>
            <a:off x="256032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人それぞれ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「北欧」の捉え方は人によって違う。だから定義が必要</a:t>
            </a:r>
            <a:endParaRPr lang="en-US" sz="1200" dirty="0"/>
          </a:p>
        </p:txBody>
      </p:sp>
      <p:sp>
        <p:nvSpPr>
          <p:cNvPr id="13" name="goal-3"/>
          <p:cNvSpPr/>
          <p:nvPr/>
        </p:nvSpPr>
        <p:spPr>
          <a:xfrm>
            <a:off x="466344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軸で整理できる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モダン⇔トラッド、軽い⇔重い。テイストでアレンジもできる</a:t>
            </a:r>
            <a:endParaRPr lang="en-US" sz="1200" dirty="0"/>
          </a:p>
        </p:txBody>
      </p:sp>
      <p:sp>
        <p:nvSpPr>
          <p:cNvPr id="18" name="goal-4"/>
          <p:cNvSpPr/>
          <p:nvPr/>
        </p:nvSpPr>
        <p:spPr>
          <a:xfrm>
            <a:off x="676656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944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自分たちを知る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自社商品をマトリックスに置くと、ばらけていることが見える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成果物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北欧スタイルの定義（たたき台）／商品のスタイル書き出しリスト／スタイル分散図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タイムテーブル（90分）</a:t>
            </a:r>
            <a:endParaRPr lang="en-US" sz="2600" dirty="0"/>
          </a:p>
        </p:txBody>
      </p:sp>
      <p:graphicFrame>
        <p:nvGraphicFramePr>
          <p:cNvPr id="6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パート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伝わること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① オープニング：北欧スタイルってどんなもの？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個人ワーク＋共有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みんなイメージが違う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10–25分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② デザインの歴史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スタイルには背景がある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25–40分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③ スタイルの特徴：重さ・軽さ／モダンとトラッド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レクチャー＋問いかけ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スタイルは軸で整理できる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40–55分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④ 北欧スタイルを定義する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ブランドとしての定義が必要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55–80分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⑤ 自社商品をマトリックスに置く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スタイルがばらけている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80–90分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⑥ まとめ：次回どうするべきか？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次回はお客様のニーズへ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60分版：②③を合わせて15分、⑤を15分、⑥を5分に短縮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「北欧スタイル」って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どんなものだと思う？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思い浮かぶものを付箋に3つ（色・素材・形・ブランド・部屋のシーン、なんでもOK）　｜　3分</a:t>
            </a:r>
            <a:endParaRPr lang="en-US" sz="1600" dirty="0"/>
          </a:p>
        </p:txBody>
      </p:sp>
      <p:sp>
        <p:nvSpPr>
          <p:cNvPr id="4" name="sticky-0"/>
          <p:cNvSpPr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白い部屋</a:t>
            </a:r>
            <a:endParaRPr lang="en-US" sz="1200" dirty="0"/>
          </a:p>
        </p:txBody>
      </p:sp>
      <p:sp>
        <p:nvSpPr>
          <p:cNvPr id="6" name="sticky-1"/>
          <p:cNvSpPr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木の家具</a:t>
            </a:r>
            <a:endParaRPr lang="en-US" sz="1200" dirty="0"/>
          </a:p>
        </p:txBody>
      </p:sp>
      <p:sp>
        <p:nvSpPr>
          <p:cNvPr id="8" name="sticky-2"/>
          <p:cNvSpPr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テキスタイル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宮廷の家具から、みんなの家具へ</a:t>
            </a:r>
            <a:endParaRPr lang="en-US" sz="2600" dirty="0"/>
          </a:p>
        </p:txBody>
      </p:sp>
      <p:sp>
        <p:nvSpPr>
          <p:cNvPr id="4" name="timeline-axis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転換点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古代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ローマ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古典様式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47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ルネサンス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5059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0574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17–18C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56432" y="208483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632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18C後半–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産業革命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6227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908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19C後半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アーツ＆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クラフツ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81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74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1890s–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アール・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ヌーヴォー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739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80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1919–33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ドイツ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バウハウス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79792" y="2084832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866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1930–60s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北欧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924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1950–80s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装飾の多い「宮廷・貴族のための家具」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産業革命で機械生産が始まり「みんなのための家具」へ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国ごとの環境・文化の違いから、それぞれのモダンが生まれた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国の環境と文化が、スタイルの特徴をつくる</a:t>
            </a:r>
            <a:endParaRPr lang="en-US" sz="2600" dirty="0"/>
          </a:p>
        </p:txBody>
      </p:sp>
      <p:sp>
        <p:nvSpPr>
          <p:cNvPr id="4" name="country-0"/>
          <p:cNvSpPr/>
          <p:nvPr/>
        </p:nvSpPr>
        <p:spPr>
          <a:xfrm>
            <a:off x="457200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フランス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宮廷文化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曲線・装飾・金や彫刻。優雅で華やか（ロココ、アール・ヌーヴォー）</a:t>
            </a:r>
            <a:endParaRPr lang="en-US" sz="1200" dirty="0"/>
          </a:p>
        </p:txBody>
      </p:sp>
      <p:sp>
        <p:nvSpPr>
          <p:cNvPr id="8" name="photo-0"/>
          <p:cNvSpPr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9" name="photo-label-0"/>
          <p:cNvSpPr txBox="1"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ヴェルサイユ宮殿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鏡の間</a:t>
            </a:r>
            <a:endParaRPr lang="en-US" sz="900" dirty="0"/>
          </a:p>
        </p:txBody>
      </p:sp>
      <p:sp>
        <p:nvSpPr>
          <p:cNvPr id="10" name="country-1"/>
          <p:cNvSpPr/>
          <p:nvPr/>
        </p:nvSpPr>
        <p:spPr>
          <a:xfrm>
            <a:off x="2139696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76856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イタリア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7685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古典と工業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比例と調和。戦後は新素材と大胆な造形・色</a:t>
            </a:r>
            <a:endParaRPr lang="en-US" sz="1200" dirty="0"/>
          </a:p>
        </p:txBody>
      </p:sp>
      <p:sp>
        <p:nvSpPr>
          <p:cNvPr id="14" name="photo-1"/>
          <p:cNvSpPr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15" name="photo-label-1"/>
          <p:cNvSpPr txBox="1"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ジオ・ポンティ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スーパーレジェーラ</a:t>
            </a:r>
            <a:endParaRPr lang="en-US" sz="900" dirty="0"/>
          </a:p>
        </p:txBody>
      </p:sp>
      <p:sp>
        <p:nvSpPr>
          <p:cNvPr id="16" name="country-2"/>
          <p:cNvSpPr/>
          <p:nvPr/>
        </p:nvSpPr>
        <p:spPr>
          <a:xfrm>
            <a:off x="3822192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59352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イギリス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産業革命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量産の始まりと、その反発としての手仕事（アーツ＆クラフツ）</a:t>
            </a:r>
            <a:endParaRPr lang="en-US" sz="1200" dirty="0"/>
          </a:p>
        </p:txBody>
      </p:sp>
      <p:sp>
        <p:nvSpPr>
          <p:cNvPr id="20" name="photo-2"/>
          <p:cNvSpPr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1" name="photo-label-2"/>
          <p:cNvSpPr txBox="1"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ウィリアム・モリス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のテキスタイル</a:t>
            </a:r>
            <a:endParaRPr lang="en-US" sz="900" dirty="0"/>
          </a:p>
        </p:txBody>
      </p:sp>
      <p:sp>
        <p:nvSpPr>
          <p:cNvPr id="22" name="country-3"/>
          <p:cNvSpPr/>
          <p:nvPr/>
        </p:nvSpPr>
        <p:spPr>
          <a:xfrm>
            <a:off x="5504688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41848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ドイツ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合理と工業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形態は機能に従う。直線・無装飾（バウハウス）</a:t>
            </a:r>
            <a:endParaRPr lang="en-US" sz="1200" dirty="0"/>
          </a:p>
        </p:txBody>
      </p:sp>
      <p:sp>
        <p:nvSpPr>
          <p:cNvPr id="26" name="photo-3"/>
          <p:cNvSpPr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7" name="photo-label-3"/>
          <p:cNvSpPr txBox="1"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ブロイヤー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ワシリーチェア</a:t>
            </a:r>
            <a:endParaRPr lang="en-US" sz="900" dirty="0"/>
          </a:p>
        </p:txBody>
      </p:sp>
      <p:sp>
        <p:nvSpPr>
          <p:cNvPr id="28" name="country-4"/>
          <p:cNvSpPr/>
          <p:nvPr/>
        </p:nvSpPr>
        <p:spPr>
          <a:xfrm>
            <a:off x="7187184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24344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北欧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32434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長い冬と森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室内で過ごす時間が長い。木の温もり、明るさ、使いやすさ</a:t>
            </a:r>
            <a:endParaRPr lang="en-US" sz="1200" dirty="0"/>
          </a:p>
        </p:txBody>
      </p:sp>
      <p:sp>
        <p:nvSpPr>
          <p:cNvPr id="32" name="photo-4"/>
          <p:cNvSpPr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33" name="photo-label-4"/>
          <p:cNvSpPr txBox="1"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ウェグナー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Yチェア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別紙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国ごとの時代の雰囲気と、代表的な運動・デザイナー</a:t>
            </a:r>
            <a:endParaRPr lang="en-US" sz="2600" dirty="0"/>
          </a:p>
        </p:txBody>
      </p:sp>
      <p:graphicFrame>
        <p:nvGraphicFramePr>
          <p:cNvPr id="10" name="country-refere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834640"/>
                <a:gridCol w="2103120"/>
                <a:gridCol w="24688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国の特徴・時代の雰囲気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代表的なデザイン運動・様式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フランス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絶対王政の宮廷文化。華やかさと優雅さ。19世紀末からはパリが芸術の中心に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バロック・ロココ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アール・ヌーヴォー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アール・デコ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エクトール・ギマール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ジャック＝エミール・ルールマン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シャルロット・ペリアン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イタリア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古代ローマ・ルネサンスの伝統。戦後の工業化と高度成長、ミラノが拠点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ルネサンス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イタリアンモダン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メンフィス（1981〜）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ジオ・ポンティ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ジョエ・コロンボ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エットーレ・ソットサス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イギリス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世界で最初の産業革命。ヴィクトリア朝の繁栄と、粗悪な量産品への反発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ジョージアン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ヴィクトリアン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アーツ・アンド・クラフツ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トーマス・チッペンデール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ウィリアム・モリス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C・R・マッキントッシュ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ドイツ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第一次大戦後の再建。工業と合理主義、新しい社会のための造形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ドイツ工作連盟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バウハウス（1919〜1933）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ヴァルター・グロピウス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ミース・ファン・デル・ローエ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マルセル・ブロイヤー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北欧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長く暗い冬と豊かな森。家で過ごす時間が長く、誰もが良い暮らしを、という福祉社会の考え方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北欧モダン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（スカンジナビアンモダン）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アルヴァ・アアルト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アルネ・ヤコブセン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ハンス・J・ウェグナー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スタイルは2つの軸で整理できる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横軸：モダン系 ⇔ トラッド系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トラディショナル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モダン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伝統的な素材と技法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重厚な仕上げ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直線・無装飾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新素材（スチール・合板）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機能を優先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縦軸：重い ⇔ 軽い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重い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軽い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濃い色・深いトーン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量感のある形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太い脚、装飾が多い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淡い色・明るいトーン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細い脚、抜け感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装飾が少ない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問いかけ：さっき書いた付箋は、重い？　軽い？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スタイルはテイストでアレンジできる</a:t>
            </a:r>
            <a:endParaRPr lang="en-US" sz="2600" dirty="0"/>
          </a:p>
        </p:txBody>
      </p:sp>
      <p:sp>
        <p:nvSpPr>
          <p:cNvPr id="4" name="taste-0"/>
          <p:cNvSpPr/>
          <p:nvPr/>
        </p:nvSpPr>
        <p:spPr>
          <a:xfrm>
            <a:off x="731520" y="12344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ヴィンテージ寄り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チーク・濃い木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深いトーン</a:t>
            </a:r>
            <a:endParaRPr lang="en-US" sz="1200" dirty="0"/>
          </a:p>
        </p:txBody>
      </p:sp>
      <p:sp>
        <p:nvSpPr>
          <p:cNvPr id="7" name="taste-1"/>
          <p:cNvSpPr/>
          <p:nvPr/>
        </p:nvSpPr>
        <p:spPr>
          <a:xfrm>
            <a:off x="3474720" y="1234440"/>
            <a:ext cx="2194560" cy="2194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北欧スタイル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木・明るさ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使いやすさ</a:t>
            </a:r>
            <a:endParaRPr lang="en-US" sz="1200" dirty="0"/>
          </a:p>
        </p:txBody>
      </p:sp>
      <p:sp>
        <p:nvSpPr>
          <p:cNvPr id="10" name="taste-2"/>
          <p:cNvSpPr/>
          <p:nvPr/>
        </p:nvSpPr>
        <p:spPr>
          <a:xfrm>
            <a:off x="6217920" y="1234440"/>
            <a:ext cx="2194560" cy="21945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ナチュラル寄り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オーク・白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淡いトーン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同じ「北欧」でもブランドごとに位置が違う。既存ブランドを例に「このブランドの北欧はどの位置？」と問いかける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グループワーク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北欧といっても、定義を決めないといけない</a:t>
            </a:r>
            <a:endParaRPr lang="en-US" sz="2600" dirty="0"/>
          </a:p>
        </p:txBody>
      </p:sp>
      <p:graphicFrame>
        <p:nvGraphicFramePr>
          <p:cNvPr id="13" name="define-she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283464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考えること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書き込み例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うちのブランドでは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歴史・背景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なぜ生まれたか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長い冬を室内で心地よく過ごすため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デザインの特徴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形・素材・つくり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木、細い脚、丸みのあるシンプルな形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ベースとアクセント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白・グレー・木の色＋くすみカラー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色の重さ・トーン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明度・彩度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明るく、彩度は低め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イメージ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一言で言うと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明るく、温かく、長く使える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最後に①の付箋と比べて「最初のイメージとどこが違った？」を一言ずつ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　25分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自社商品はどこに集まり、どこがばらけているか</a:t>
            </a:r>
            <a:endParaRPr lang="en-US" sz="2600" dirty="0"/>
          </a:p>
        </p:txBody>
      </p:sp>
      <p:sp>
        <p:nvSpPr>
          <p:cNvPr id="4" name="matrix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350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ナチュラル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0352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0350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イタリアンモダン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828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フレンチカントリー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23774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2880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82880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ヴィクトリアン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377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点線は位置の例（当日の議論で動かしてOK）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ワークの進め方</a:t>
            </a:r>
            <a:endParaRPr lang="en-US" sz="2600" dirty="0"/>
          </a:p>
        </p:txBody>
      </p:sp>
      <p:sp>
        <p:nvSpPr>
          <p:cNvPr id="4" name="step-0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書き出す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商品開発部の商品を書き出し、各商品が「どのスタイルか」を付箋に書く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24612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置く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マトリックスに付箋を貼る。北欧と言っている商品はどこに来るか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603504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気づく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眺めて共有。「北欧のつもりがばらけている」「この象限が空いている」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素材例：リビングの商品リスト（product_list_living.xlsx）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では、次回どうするべきか？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・スタイルには背景がある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・イメージは人それぞれだから、定義が必要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・自社商品はスタイルが分散している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次回：お客様のニーズを知り、ブランドとして提案するスタイルを決める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Nordic Workshop">
  <a:themeElements>
    <a:clrScheme name="Nordic Workshop">
      <a:dk1>
        <a:srgbClr val="2B2B2B"/>
      </a:dk1>
      <a:lt1>
        <a:srgbClr val="FFFFFF"/>
      </a:lt1>
      <a:dk2>
        <a:srgbClr val="2F3E38"/>
      </a:dk2>
      <a:lt2>
        <a:srgbClr val="EEF2EF"/>
      </a:lt2>
      <a:accent1>
        <a:srgbClr val="B8875A"/>
      </a:accent1>
      <a:accent2>
        <a:srgbClr val="D9734E"/>
      </a:accent2>
      <a:accent3>
        <a:srgbClr val="6F8F7E"/>
      </a:accent3>
      <a:accent4>
        <a:srgbClr val="8A9BA8"/>
      </a:accent4>
      <a:accent5>
        <a:srgbClr val="C9B79C"/>
      </a:accent5>
      <a:accent6>
        <a:srgbClr val="5B6B73"/>
      </a:accent6>
      <a:hlink>
        <a:srgbClr val="2F6F8F"/>
      </a:hlink>
      <a:folHlink>
        <a:srgbClr val="6F4E7C"/>
      </a:folHlink>
    </a:clrScheme>
    <a:fontScheme name="Nordic Workshop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ワークショップ① インテリアスタイルを知る</dc:title>
  <dc:subject>PptxGenJS Presentation</dc:subject>
  <dc:creator>PptxGenJS</dc:creator>
  <cp:lastModifiedBy>PptxGenJS</cp:lastModifiedBy>
  <cp:revision>1</cp:revision>
  <dcterms:created xsi:type="dcterms:W3CDTF">2026-10-26T14:44:01Z</dcterms:created>
  <dcterms:modified xsi:type="dcterms:W3CDTF">2026-10-26T14:44:01Z</dcterms:modified>
</cp:coreProperties>
</file>