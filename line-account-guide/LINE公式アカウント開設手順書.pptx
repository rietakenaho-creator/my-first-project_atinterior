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d0f1f683-2186-25ef-9263-9d9fed923d3f}">
          <p14:sldIdLst>
            <p14:sldId id="256"/>
            <p14:sldId id="257"/>
            <p14:sldId id="258"/>
          </p14:sldIdLst>
        </p14:section>
        <p14:section name="開設手順" id="{1a299742-5bea-a008-8804-d1a9215b4745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開設後" id="{ef0350b4-d45d-3a2f-fa57-5448958e2e8f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本日はこの資料を見ながら、一緒にLINE公式アカウントを開設します。15分ほどで完了します。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全体で15分ほどです。STEP6の招待までしていただければ、残りの設定はこちらで進めます。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メールアドレスは個人用ではなく、会社で共有しているものがおすすめです。担当者が替わっても引き継げます。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entry.line.biz を開き、緑の「LINE公式アカウントの開設（無料）」ボタンを押してください。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必ず「メールアドレスで登録」を選びます。入力したアドレスに登録用のリンクが届きます。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パスワードはこの場で社内の管理表などに控えておいてください。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表のとおりに入力します。業種は「住宅・不動産」を選び、小業種は工務店・住宅メーカーに近いものを選んでください。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ここで開設は完了です。続けて管理画面から制作担当を招待します。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発行したURLをメールやLINEで制作担当に送ってください。24時間以内に承認します。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友だち追加すると、トーク画面の下にこのメニューが表示されます。ボタンを押すだけで各ページが開きます。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LINE公式アカウント 開設手順書</a:t>
            </a:r>
            <a:endParaRPr lang="en-US" sz="1000" dirty="0"/>
          </a:p>
        </p:txBody>
      </p:sp>
      <p:pic>
        <p:nvPicPr>
          <p:cNvPr id="4" name="Image 0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6217920"/>
            <a:ext cx="758952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LINE公式アカウント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開設手順書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株式会社ハウスワーク 様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所要時間 約15分・開設は無料です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8229600" y="1920240"/>
            <a:ext cx="320040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/>
        </p:spPr>
      </p:sp>
      <p:pic>
        <p:nvPicPr>
          <p:cNvPr id="5" name="logo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514600"/>
            <a:ext cx="265176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開設までの流れ</a:t>
            </a:r>
            <a:endParaRPr lang="en-US" sz="2800" dirty="0"/>
          </a:p>
        </p:txBody>
      </p:sp>
      <p:sp>
        <p:nvSpPr>
          <p:cNvPr id="3" name="flow-arrow-1"/>
          <p:cNvSpPr/>
          <p:nvPr/>
        </p:nvSpPr>
        <p:spPr>
          <a:xfrm>
            <a:off x="184388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" name="flow-circle-1"/>
          <p:cNvSpPr/>
          <p:nvPr/>
        </p:nvSpPr>
        <p:spPr>
          <a:xfrm>
            <a:off x="79232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flow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86000"/>
            <a:ext cx="457200" cy="457200"/>
          </a:xfrm>
          <a:prstGeom prst="rect">
            <a:avLst/>
          </a:prstGeom>
        </p:spPr>
      </p:pic>
      <p:sp>
        <p:nvSpPr>
          <p:cNvPr id="6" name="flow-step-1"/>
          <p:cNvSpPr txBox="1"/>
          <p:nvPr/>
        </p:nvSpPr>
        <p:spPr>
          <a:xfrm>
            <a:off x="4037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flow-label-1"/>
          <p:cNvSpPr txBox="1"/>
          <p:nvPr/>
        </p:nvSpPr>
        <p:spPr>
          <a:xfrm>
            <a:off x="4037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申込みページを開く</a:t>
            </a:r>
            <a:endParaRPr lang="en-US" sz="1400" dirty="0"/>
          </a:p>
        </p:txBody>
      </p:sp>
      <p:sp>
        <p:nvSpPr>
          <p:cNvPr id="8" name="flow-time-1"/>
          <p:cNvSpPr txBox="1"/>
          <p:nvPr/>
        </p:nvSpPr>
        <p:spPr>
          <a:xfrm>
            <a:off x="4037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9" name="flow-arrow-2"/>
          <p:cNvSpPr/>
          <p:nvPr/>
        </p:nvSpPr>
        <p:spPr>
          <a:xfrm>
            <a:off x="376412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flow-circle-2"/>
          <p:cNvSpPr/>
          <p:nvPr/>
        </p:nvSpPr>
        <p:spPr>
          <a:xfrm>
            <a:off x="271256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flow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8" y="2286000"/>
            <a:ext cx="457200" cy="457200"/>
          </a:xfrm>
          <a:prstGeom prst="rect">
            <a:avLst/>
          </a:prstGeom>
        </p:spPr>
      </p:pic>
      <p:sp>
        <p:nvSpPr>
          <p:cNvPr id="12" name="flow-step-2"/>
          <p:cNvSpPr txBox="1"/>
          <p:nvPr/>
        </p:nvSpPr>
        <p:spPr>
          <a:xfrm>
            <a:off x="232394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3" name="flow-label-2"/>
          <p:cNvSpPr txBox="1"/>
          <p:nvPr/>
        </p:nvSpPr>
        <p:spPr>
          <a:xfrm>
            <a:off x="232394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メールで登録</a:t>
            </a:r>
            <a:endParaRPr lang="en-US" sz="1400" dirty="0"/>
          </a:p>
        </p:txBody>
      </p:sp>
      <p:sp>
        <p:nvSpPr>
          <p:cNvPr id="14" name="flow-time-2"/>
          <p:cNvSpPr txBox="1"/>
          <p:nvPr/>
        </p:nvSpPr>
        <p:spPr>
          <a:xfrm>
            <a:off x="232394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2分</a:t>
            </a:r>
            <a:endParaRPr lang="en-US" sz="1200" dirty="0"/>
          </a:p>
        </p:txBody>
      </p:sp>
      <p:sp>
        <p:nvSpPr>
          <p:cNvPr id="15" name="flow-arrow-3"/>
          <p:cNvSpPr/>
          <p:nvPr/>
        </p:nvSpPr>
        <p:spPr>
          <a:xfrm>
            <a:off x="568436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flow-circle-3"/>
          <p:cNvSpPr/>
          <p:nvPr/>
        </p:nvSpPr>
        <p:spPr>
          <a:xfrm>
            <a:off x="463280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flow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2286000"/>
            <a:ext cx="457200" cy="457200"/>
          </a:xfrm>
          <a:prstGeom prst="rect">
            <a:avLst/>
          </a:prstGeom>
        </p:spPr>
      </p:pic>
      <p:sp>
        <p:nvSpPr>
          <p:cNvPr id="18" name="flow-step-3"/>
          <p:cNvSpPr txBox="1"/>
          <p:nvPr/>
        </p:nvSpPr>
        <p:spPr>
          <a:xfrm>
            <a:off x="424418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19" name="flow-label-3"/>
          <p:cNvSpPr txBox="1"/>
          <p:nvPr/>
        </p:nvSpPr>
        <p:spPr>
          <a:xfrm>
            <a:off x="424418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ビジネスIDを作成</a:t>
            </a:r>
            <a:endParaRPr lang="en-US" sz="1400" dirty="0"/>
          </a:p>
        </p:txBody>
      </p:sp>
      <p:sp>
        <p:nvSpPr>
          <p:cNvPr id="20" name="flow-time-3"/>
          <p:cNvSpPr txBox="1"/>
          <p:nvPr/>
        </p:nvSpPr>
        <p:spPr>
          <a:xfrm>
            <a:off x="424418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21" name="flow-arrow-4"/>
          <p:cNvSpPr/>
          <p:nvPr/>
        </p:nvSpPr>
        <p:spPr>
          <a:xfrm>
            <a:off x="760460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flow-circle-4"/>
          <p:cNvSpPr/>
          <p:nvPr/>
        </p:nvSpPr>
        <p:spPr>
          <a:xfrm>
            <a:off x="655304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flow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2286000"/>
            <a:ext cx="457200" cy="457200"/>
          </a:xfrm>
          <a:prstGeom prst="rect">
            <a:avLst/>
          </a:prstGeom>
        </p:spPr>
      </p:pic>
      <p:sp>
        <p:nvSpPr>
          <p:cNvPr id="24" name="flow-step-4"/>
          <p:cNvSpPr txBox="1"/>
          <p:nvPr/>
        </p:nvSpPr>
        <p:spPr>
          <a:xfrm>
            <a:off x="616442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5" name="flow-label-4"/>
          <p:cNvSpPr txBox="1"/>
          <p:nvPr/>
        </p:nvSpPr>
        <p:spPr>
          <a:xfrm>
            <a:off x="616442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情報を入力</a:t>
            </a:r>
            <a:endParaRPr lang="en-US" sz="1400" dirty="0"/>
          </a:p>
        </p:txBody>
      </p:sp>
      <p:sp>
        <p:nvSpPr>
          <p:cNvPr id="26" name="flow-time-4"/>
          <p:cNvSpPr txBox="1"/>
          <p:nvPr/>
        </p:nvSpPr>
        <p:spPr>
          <a:xfrm>
            <a:off x="616442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5分</a:t>
            </a:r>
            <a:endParaRPr lang="en-US" sz="1200" dirty="0"/>
          </a:p>
        </p:txBody>
      </p:sp>
      <p:sp>
        <p:nvSpPr>
          <p:cNvPr id="27" name="flow-arrow-5"/>
          <p:cNvSpPr/>
          <p:nvPr/>
        </p:nvSpPr>
        <p:spPr>
          <a:xfrm>
            <a:off x="952484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flow-circle-5"/>
          <p:cNvSpPr/>
          <p:nvPr/>
        </p:nvSpPr>
        <p:spPr>
          <a:xfrm>
            <a:off x="847328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9" name="flow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608" y="2286000"/>
            <a:ext cx="457200" cy="457200"/>
          </a:xfrm>
          <a:prstGeom prst="rect">
            <a:avLst/>
          </a:prstGeom>
        </p:spPr>
      </p:pic>
      <p:sp>
        <p:nvSpPr>
          <p:cNvPr id="30" name="flow-step-5"/>
          <p:cNvSpPr txBox="1"/>
          <p:nvPr/>
        </p:nvSpPr>
        <p:spPr>
          <a:xfrm>
            <a:off x="808466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5</a:t>
            </a:r>
            <a:endParaRPr lang="en-US" sz="1200" dirty="0"/>
          </a:p>
        </p:txBody>
      </p:sp>
      <p:sp>
        <p:nvSpPr>
          <p:cNvPr id="31" name="flow-label-5"/>
          <p:cNvSpPr txBox="1"/>
          <p:nvPr/>
        </p:nvSpPr>
        <p:spPr>
          <a:xfrm>
            <a:off x="808466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開設完了</a:t>
            </a:r>
            <a:endParaRPr lang="en-US" sz="1400" dirty="0"/>
          </a:p>
        </p:txBody>
      </p:sp>
      <p:sp>
        <p:nvSpPr>
          <p:cNvPr id="32" name="flow-time-5"/>
          <p:cNvSpPr txBox="1"/>
          <p:nvPr/>
        </p:nvSpPr>
        <p:spPr>
          <a:xfrm>
            <a:off x="808466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33" name="flow-circle-6"/>
          <p:cNvSpPr/>
          <p:nvPr/>
        </p:nvSpPr>
        <p:spPr>
          <a:xfrm>
            <a:off x="10393528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flow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848" y="2286000"/>
            <a:ext cx="457200" cy="457200"/>
          </a:xfrm>
          <a:prstGeom prst="rect">
            <a:avLst/>
          </a:prstGeom>
        </p:spPr>
      </p:pic>
      <p:sp>
        <p:nvSpPr>
          <p:cNvPr id="35" name="flow-step-6"/>
          <p:cNvSpPr txBox="1"/>
          <p:nvPr/>
        </p:nvSpPr>
        <p:spPr>
          <a:xfrm>
            <a:off x="100049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6</a:t>
            </a:r>
            <a:endParaRPr lang="en-US" sz="1200" dirty="0"/>
          </a:p>
        </p:txBody>
      </p:sp>
      <p:sp>
        <p:nvSpPr>
          <p:cNvPr id="36" name="flow-label-6"/>
          <p:cNvSpPr txBox="1"/>
          <p:nvPr/>
        </p:nvSpPr>
        <p:spPr>
          <a:xfrm>
            <a:off x="100049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制作担当を招待</a:t>
            </a:r>
            <a:endParaRPr lang="en-US" sz="1400" dirty="0"/>
          </a:p>
        </p:txBody>
      </p:sp>
      <p:sp>
        <p:nvSpPr>
          <p:cNvPr id="37" name="flow-time-6"/>
          <p:cNvSpPr txBox="1"/>
          <p:nvPr/>
        </p:nvSpPr>
        <p:spPr>
          <a:xfrm>
            <a:off x="100049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38" name="flow-summary"/>
          <p:cNvSpPr txBox="1"/>
          <p:nvPr/>
        </p:nvSpPr>
        <p:spPr>
          <a:xfrm>
            <a:off x="1097280" y="5074920"/>
            <a:ext cx="99669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1〜5 で開設完了。STEP 6 で制作担当を招待すると、プロフィールやリッチメニューの設定を代わりに進められます。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事前に準備するもの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prep-card-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5" name="prep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57200" cy="457200"/>
          </a:xfrm>
          <a:prstGeom prst="rect">
            <a:avLst/>
          </a:prstGeom>
        </p:spPr>
      </p:pic>
      <p:sp>
        <p:nvSpPr>
          <p:cNvPr id="6" name="prep-head-1"/>
          <p:cNvSpPr txBox="1"/>
          <p:nvPr/>
        </p:nvSpPr>
        <p:spPr>
          <a:xfrm>
            <a:off x="150876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共有メールアドレス</a:t>
            </a:r>
            <a:endParaRPr lang="en-US" sz="1700" dirty="0"/>
          </a:p>
        </p:txBody>
      </p:sp>
      <p:sp>
        <p:nvSpPr>
          <p:cNvPr id="7" name="prep-body-1"/>
          <p:cNvSpPr txBox="1"/>
          <p:nvPr/>
        </p:nvSpPr>
        <p:spPr>
          <a:xfrm>
            <a:off x="86868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info@ など。当日メールを受信できる状態にしておきます</a:t>
            </a:r>
            <a:endParaRPr lang="en-US" sz="1400" dirty="0"/>
          </a:p>
        </p:txBody>
      </p:sp>
      <p:sp>
        <p:nvSpPr>
          <p:cNvPr id="8" name="prep-card-2"/>
          <p:cNvSpPr/>
          <p:nvPr/>
        </p:nvSpPr>
        <p:spPr>
          <a:xfrm>
            <a:off x="434340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9" name="prep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37360"/>
            <a:ext cx="457200" cy="457200"/>
          </a:xfrm>
          <a:prstGeom prst="rect">
            <a:avLst/>
          </a:prstGeom>
        </p:spPr>
      </p:pic>
      <p:sp>
        <p:nvSpPr>
          <p:cNvPr id="10" name="prep-head-2"/>
          <p:cNvSpPr txBox="1"/>
          <p:nvPr/>
        </p:nvSpPr>
        <p:spPr>
          <a:xfrm>
            <a:off x="530352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パスワード</a:t>
            </a:r>
            <a:endParaRPr lang="en-US" sz="1700" dirty="0"/>
          </a:p>
        </p:txBody>
      </p:sp>
      <p:sp>
        <p:nvSpPr>
          <p:cNvPr id="11" name="prep-body-2"/>
          <p:cNvSpPr txBox="1"/>
          <p:nvPr/>
        </p:nvSpPr>
        <p:spPr>
          <a:xfrm>
            <a:off x="466344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8文字以上の英数字。社内で保管してください</a:t>
            </a:r>
            <a:endParaRPr lang="en-US" sz="1400" dirty="0"/>
          </a:p>
        </p:txBody>
      </p:sp>
      <p:sp>
        <p:nvSpPr>
          <p:cNvPr id="12" name="prep-card-3"/>
          <p:cNvSpPr/>
          <p:nvPr/>
        </p:nvSpPr>
        <p:spPr>
          <a:xfrm>
            <a:off x="813816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3" name="prep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37360"/>
            <a:ext cx="457200" cy="457200"/>
          </a:xfrm>
          <a:prstGeom prst="rect">
            <a:avLst/>
          </a:prstGeom>
        </p:spPr>
      </p:pic>
      <p:sp>
        <p:nvSpPr>
          <p:cNvPr id="14" name="prep-head-3"/>
          <p:cNvSpPr txBox="1"/>
          <p:nvPr/>
        </p:nvSpPr>
        <p:spPr>
          <a:xfrm>
            <a:off x="90982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会社情報</a:t>
            </a:r>
            <a:endParaRPr lang="en-US" sz="1700" dirty="0"/>
          </a:p>
        </p:txBody>
      </p:sp>
      <p:sp>
        <p:nvSpPr>
          <p:cNvPr id="15" name="prep-body-3"/>
          <p:cNvSpPr txBox="1"/>
          <p:nvPr/>
        </p:nvSpPr>
        <p:spPr>
          <a:xfrm>
            <a:off x="845820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会社名・住所・電話番号・ホームページURL</a:t>
            </a:r>
            <a:endParaRPr lang="en-US" sz="1400" dirty="0"/>
          </a:p>
        </p:txBody>
      </p:sp>
      <p:sp>
        <p:nvSpPr>
          <p:cNvPr id="16" name="prep-card-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7" name="prep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57200" cy="457200"/>
          </a:xfrm>
          <a:prstGeom prst="rect">
            <a:avLst/>
          </a:prstGeom>
        </p:spPr>
      </p:pic>
      <p:sp>
        <p:nvSpPr>
          <p:cNvPr id="18" name="prep-head-4"/>
          <p:cNvSpPr txBox="1"/>
          <p:nvPr/>
        </p:nvSpPr>
        <p:spPr>
          <a:xfrm>
            <a:off x="150876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パソコン</a:t>
            </a:r>
            <a:endParaRPr lang="en-US" sz="1700" dirty="0"/>
          </a:p>
        </p:txBody>
      </p:sp>
      <p:sp>
        <p:nvSpPr>
          <p:cNvPr id="19" name="prep-body-4"/>
          <p:cNvSpPr txBox="1"/>
          <p:nvPr/>
        </p:nvSpPr>
        <p:spPr>
          <a:xfrm>
            <a:off x="86868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などのブラウザで操作します</a:t>
            </a:r>
            <a:endParaRPr lang="en-US" sz="1400" dirty="0"/>
          </a:p>
        </p:txBody>
      </p:sp>
      <p:sp>
        <p:nvSpPr>
          <p:cNvPr id="20" name="prep-card-5"/>
          <p:cNvSpPr/>
          <p:nvPr/>
        </p:nvSpPr>
        <p:spPr>
          <a:xfrm>
            <a:off x="434340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1" name="prep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977640"/>
            <a:ext cx="457200" cy="457200"/>
          </a:xfrm>
          <a:prstGeom prst="rect">
            <a:avLst/>
          </a:prstGeom>
        </p:spPr>
      </p:pic>
      <p:sp>
        <p:nvSpPr>
          <p:cNvPr id="22" name="prep-head-5"/>
          <p:cNvSpPr txBox="1"/>
          <p:nvPr/>
        </p:nvSpPr>
        <p:spPr>
          <a:xfrm>
            <a:off x="530352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スマートフォン</a:t>
            </a:r>
            <a:endParaRPr lang="en-US" sz="1700" dirty="0"/>
          </a:p>
        </p:txBody>
      </p:sp>
      <p:sp>
        <p:nvSpPr>
          <p:cNvPr id="23" name="prep-body-5"/>
          <p:cNvSpPr txBox="1"/>
          <p:nvPr/>
        </p:nvSpPr>
        <p:spPr>
          <a:xfrm>
            <a:off x="466344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LINEアプリが入ったもの。確認や動作チェックに使います</a:t>
            </a:r>
            <a:endParaRPr lang="en-US" sz="1400" dirty="0"/>
          </a:p>
        </p:txBody>
      </p:sp>
      <p:sp>
        <p:nvSpPr>
          <p:cNvPr id="24" name="prep-card-6"/>
          <p:cNvSpPr/>
          <p:nvPr/>
        </p:nvSpPr>
        <p:spPr>
          <a:xfrm>
            <a:off x="813816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5" name="prep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77640"/>
            <a:ext cx="457200" cy="457200"/>
          </a:xfrm>
          <a:prstGeom prst="rect">
            <a:avLst/>
          </a:prstGeom>
        </p:spPr>
      </p:pic>
      <p:sp>
        <p:nvSpPr>
          <p:cNvPr id="26" name="prep-head-6"/>
          <p:cNvSpPr txBox="1"/>
          <p:nvPr/>
        </p:nvSpPr>
        <p:spPr>
          <a:xfrm>
            <a:off x="909828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ロゴ画像</a:t>
            </a:r>
            <a:endParaRPr lang="en-US" sz="1700" dirty="0"/>
          </a:p>
        </p:txBody>
      </p:sp>
      <p:sp>
        <p:nvSpPr>
          <p:cNvPr id="27" name="prep-body-6"/>
          <p:cNvSpPr txBox="1"/>
          <p:nvPr/>
        </p:nvSpPr>
        <p:spPr>
          <a:xfrm>
            <a:off x="845820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プロフィール設定で使います（後日でも可）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1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申込みページを開く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パソコンのブラウザで「entry.line.biz」を開く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（「LINE公式アカウント 開設」で検索してもOK）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「LINE公式アカウントの開設（無料）」をクリック</a:t>
            </a:r>
            <a:endParaRPr lang="en-US" sz="1600" dirty="0"/>
          </a:p>
        </p:txBody>
      </p:sp>
      <p:sp>
        <p:nvSpPr>
          <p:cNvPr id="8" name="point-box"/>
          <p:cNvSpPr/>
          <p:nvPr/>
        </p:nvSpPr>
        <p:spPr>
          <a:xfrm>
            <a:off x="548640" y="342900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9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03320"/>
            <a:ext cx="384048" cy="384048"/>
          </a:xfrm>
          <a:prstGeom prst="rect">
            <a:avLst/>
          </a:prstGeom>
        </p:spPr>
      </p:pic>
      <p:sp>
        <p:nvSpPr>
          <p:cNvPr id="10" name="point-text"/>
          <p:cNvSpPr txBox="1"/>
          <p:nvPr/>
        </p:nvSpPr>
        <p:spPr>
          <a:xfrm>
            <a:off x="1417320" y="35661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開設・月額基本料は無料のプランから始められます。</a:t>
            </a:r>
            <a:endParaRPr lang="en-US" sz="1400" dirty="0"/>
          </a:p>
        </p:txBody>
      </p:sp>
      <p:sp>
        <p:nvSpPr>
          <p:cNvPr id="11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https://entry.line.biz/</a:t>
            </a:r>
            <a:endParaRPr lang="en-US" sz="1200" dirty="0"/>
          </a:p>
        </p:txBody>
      </p:sp>
      <p:sp>
        <p:nvSpPr>
          <p:cNvPr id="14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5" name="mock-heading"/>
          <p:cNvSpPr txBox="1"/>
          <p:nvPr/>
        </p:nvSpPr>
        <p:spPr>
          <a:xfrm>
            <a:off x="6766560" y="2240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LINE公式アカウント</a:t>
            </a:r>
            <a:endParaRPr lang="en-US" sz="2200" dirty="0"/>
          </a:p>
        </p:txBody>
      </p:sp>
      <p:sp>
        <p:nvSpPr>
          <p:cNvPr id="16" name="mock-sub"/>
          <p:cNvSpPr txBox="1"/>
          <p:nvPr/>
        </p:nvSpPr>
        <p:spPr>
          <a:xfrm>
            <a:off x="67665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お店や企業のアカウントを作って、友だちに情報を届けよう</a:t>
            </a:r>
            <a:endParaRPr lang="en-US" sz="1300" dirty="0"/>
          </a:p>
        </p:txBody>
      </p:sp>
      <p:sp>
        <p:nvSpPr>
          <p:cNvPr id="17" name="mock-button"/>
          <p:cNvSpPr txBox="1"/>
          <p:nvPr/>
        </p:nvSpPr>
        <p:spPr>
          <a:xfrm>
            <a:off x="7040880" y="379476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LINE公式アカウントの開設（無料）</a:t>
            </a:r>
            <a:endParaRPr lang="en-US" sz="1400" dirty="0"/>
          </a:p>
        </p:txBody>
      </p:sp>
      <p:sp>
        <p:nvSpPr>
          <p:cNvPr id="18" name="mock-highlight"/>
          <p:cNvSpPr/>
          <p:nvPr/>
        </p:nvSpPr>
        <p:spPr>
          <a:xfrm>
            <a:off x="6967728" y="3721608"/>
            <a:ext cx="4078224" cy="740664"/>
          </a:xfrm>
          <a:prstGeom prst="roundRect">
            <a:avLst>
              <a:gd name="adj" fmla="val 14815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2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メールアドレスで登録する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「メールアドレスで登録」を選ぶ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会社の共有メールアドレスを入力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「登録用のリンクを送信」をクリック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「LINEアカウントで登録」は選ばないでください。会社のメールで作ると、担当者が替わっても引き継げます。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7" name="mock-heading"/>
          <p:cNvSpPr txBox="1"/>
          <p:nvPr/>
        </p:nvSpPr>
        <p:spPr>
          <a:xfrm>
            <a:off x="6766560" y="2148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LINEビジネスIDを作成</a:t>
            </a:r>
            <a:endParaRPr lang="en-US" sz="1800" dirty="0"/>
          </a:p>
        </p:txBody>
      </p:sp>
      <p:sp>
        <p:nvSpPr>
          <p:cNvPr id="18" name="mock-button-line"/>
          <p:cNvSpPr txBox="1"/>
          <p:nvPr/>
        </p:nvSpPr>
        <p:spPr>
          <a:xfrm>
            <a:off x="6766560" y="27889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LINEアカウントで登録</a:t>
            </a:r>
            <a:endParaRPr lang="en-US" sz="1400" dirty="0"/>
          </a:p>
        </p:txBody>
      </p:sp>
      <p:sp>
        <p:nvSpPr>
          <p:cNvPr id="19" name="mock-button"/>
          <p:cNvSpPr txBox="1"/>
          <p:nvPr/>
        </p:nvSpPr>
        <p:spPr>
          <a:xfrm>
            <a:off x="6766560" y="34747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メールアドレスで登録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693408" y="3401568"/>
            <a:ext cx="462686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1" name="mock-label"/>
          <p:cNvSpPr txBox="1"/>
          <p:nvPr/>
        </p:nvSpPr>
        <p:spPr>
          <a:xfrm>
            <a:off x="67665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メールアドレス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44988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info@house-work.jp（例）</a:t>
            </a:r>
            <a:endParaRPr lang="en-US" sz="1300" dirty="0"/>
          </a:p>
        </p:txBody>
      </p:sp>
      <p:sp>
        <p:nvSpPr>
          <p:cNvPr id="23" name="mock-button-send"/>
          <p:cNvSpPr txBox="1"/>
          <p:nvPr/>
        </p:nvSpPr>
        <p:spPr>
          <a:xfrm>
            <a:off x="7498080" y="5074920"/>
            <a:ext cx="30175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登録用のリンクを送信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3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ビジネスIDを作成する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届いたメールの「登録画面に進む」をクリック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名前とパスワードを入力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「登録」→ 内容を確認して「登録」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「サービスに移動」をクリック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メールが届かないときは、迷惑メールフォルダを確認してください。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LINEビジネスID｜登録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label"/>
          <p:cNvSpPr txBox="1"/>
          <p:nvPr/>
        </p:nvSpPr>
        <p:spPr>
          <a:xfrm>
            <a:off x="6766560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名前</a:t>
            </a:r>
            <a:endParaRPr lang="en-US" sz="1200" dirty="0"/>
          </a:p>
        </p:txBody>
      </p:sp>
      <p:sp>
        <p:nvSpPr>
          <p:cNvPr id="20" name="mock-field"/>
          <p:cNvSpPr txBox="1"/>
          <p:nvPr/>
        </p:nvSpPr>
        <p:spPr>
          <a:xfrm>
            <a:off x="6766560" y="239572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株式会社ハウスワーク</a:t>
            </a:r>
            <a:endParaRPr lang="en-US" sz="1300" dirty="0"/>
          </a:p>
        </p:txBody>
      </p:sp>
      <p:sp>
        <p:nvSpPr>
          <p:cNvPr id="21" name="mock-label"/>
          <p:cNvSpPr txBox="1"/>
          <p:nvPr/>
        </p:nvSpPr>
        <p:spPr>
          <a:xfrm>
            <a:off x="6766560" y="2926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321868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3" name="mock-label"/>
          <p:cNvSpPr txBox="1"/>
          <p:nvPr/>
        </p:nvSpPr>
        <p:spPr>
          <a:xfrm>
            <a:off x="676656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パスワード（確認用）</a:t>
            </a:r>
            <a:endParaRPr lang="en-US" sz="1200" dirty="0"/>
          </a:p>
        </p:txBody>
      </p:sp>
      <p:sp>
        <p:nvSpPr>
          <p:cNvPr id="24" name="mock-field"/>
          <p:cNvSpPr txBox="1"/>
          <p:nvPr/>
        </p:nvSpPr>
        <p:spPr>
          <a:xfrm>
            <a:off x="6766560" y="40416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5" name="mock-button"/>
          <p:cNvSpPr txBox="1"/>
          <p:nvPr/>
        </p:nvSpPr>
        <p:spPr>
          <a:xfrm>
            <a:off x="7863840" y="4754880"/>
            <a:ext cx="22860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</a:t>
            </a:r>
            <a:endParaRPr lang="en-US" sz="1400" dirty="0"/>
          </a:p>
        </p:txBody>
      </p:sp>
      <p:sp>
        <p:nvSpPr>
          <p:cNvPr id="26" name="mock-highlight"/>
          <p:cNvSpPr/>
          <p:nvPr/>
        </p:nvSpPr>
        <p:spPr>
          <a:xfrm>
            <a:off x="7790688" y="4681728"/>
            <a:ext cx="243230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4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アカウント情報を入力する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graphicFrame>
        <p:nvGraphicFramePr>
          <p:cNvPr id="8" name="accou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入力内容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アカウント名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ハウスワーク｜小山市の注文住宅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会社の共有メールアドレス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会社・事業者の所在国・地域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日本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株式会社ハウスワーク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業種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住宅・不動産 → 工務店・住宅メーカーに近い項目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運用目的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集客・販促、情報発信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主な使い方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メッセージ配信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5" name="point-box"/>
          <p:cNvSpPr/>
          <p:nvPr/>
        </p:nvSpPr>
        <p:spPr>
          <a:xfrm>
            <a:off x="8229600" y="1371600"/>
            <a:ext cx="33832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pic>
        <p:nvPicPr>
          <p:cNvPr id="6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45920"/>
            <a:ext cx="384048" cy="384048"/>
          </a:xfrm>
          <a:prstGeom prst="rect">
            <a:avLst/>
          </a:prstGeom>
        </p:spPr>
      </p:pic>
      <p:sp>
        <p:nvSpPr>
          <p:cNvPr id="7" name="point-text"/>
          <p:cNvSpPr txBox="1"/>
          <p:nvPr/>
        </p:nvSpPr>
        <p:spPr>
          <a:xfrm>
            <a:off x="9098280" y="15087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アカウント名は、友だちのトーク一覧に表示される名前です。</a:t>
            </a:r>
            <a:endParaRPr lang="en-US" sz="1400" dirty="0"/>
          </a:p>
        </p:txBody>
      </p:sp>
      <p:sp>
        <p:nvSpPr>
          <p:cNvPr id="8" name="name-ideas-box"/>
          <p:cNvSpPr/>
          <p:nvPr/>
        </p:nvSpPr>
        <p:spPr>
          <a:xfrm>
            <a:off x="8229600" y="3429000"/>
            <a:ext cx="33832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ame-ideas"/>
          <p:cNvSpPr txBox="1"/>
          <p:nvPr/>
        </p:nvSpPr>
        <p:spPr>
          <a:xfrm>
            <a:off x="8412480" y="3566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アカウント名の候補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HOUSE WORK（ハウスワーク）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ハウスワーク｜注文住宅・古河展示場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5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確認して開設完了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入力内容を確認して「完了」をクリック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 Official Account Manager へ」をクリック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規約などの同意画面が出たら、内容を確認して同意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管理画面（manager.line.biz）をブックマークしておくと、次回からすぐに開けます。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LINE公式アカウント｜作成完了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pic>
        <p:nvPicPr>
          <p:cNvPr id="17" name="mock-don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331720"/>
            <a:ext cx="822960" cy="822960"/>
          </a:xfrm>
          <a:prstGeom prst="rect">
            <a:avLst/>
          </a:prstGeom>
        </p:spPr>
      </p:pic>
      <p:sp>
        <p:nvSpPr>
          <p:cNvPr id="18" name="mock-done-text"/>
          <p:cNvSpPr txBox="1"/>
          <p:nvPr/>
        </p:nvSpPr>
        <p:spPr>
          <a:xfrm>
            <a:off x="676656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LINE公式アカウントの作成が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完了しました</a:t>
            </a:r>
            <a:endParaRPr lang="en-US" sz="1700" dirty="0"/>
          </a:p>
        </p:txBody>
      </p:sp>
      <p:sp>
        <p:nvSpPr>
          <p:cNvPr id="19" name="mock-button"/>
          <p:cNvSpPr txBox="1"/>
          <p:nvPr/>
        </p:nvSpPr>
        <p:spPr>
          <a:xfrm>
            <a:off x="7040880" y="457200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 Official Account Manager へ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967728" y="4498848"/>
            <a:ext cx="4078224" cy="694944"/>
          </a:xfrm>
          <a:prstGeom prst="roundRect">
            <a:avLst>
              <a:gd name="adj" fmla="val 15789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6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制作担当をメンバーに招待する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管理画面の右上「設定」をクリック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左のメニューから「権限」を選ぶ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「メンバーを追加」→ 権限を「管理者」にして「URLを発行」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発行されたURLを制作担当へ送る（有効期限は24時間）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パスワードを共有せずに、安全に一緒に運用できます。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manager.line.biz｜設定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menu-1"/>
          <p:cNvSpPr txBox="1"/>
          <p:nvPr/>
        </p:nvSpPr>
        <p:spPr>
          <a:xfrm>
            <a:off x="6766560" y="214884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アカウント設定</a:t>
            </a:r>
            <a:endParaRPr lang="en-US" sz="1300" dirty="0"/>
          </a:p>
        </p:txBody>
      </p:sp>
      <p:sp>
        <p:nvSpPr>
          <p:cNvPr id="20" name="mock-menu-2"/>
          <p:cNvSpPr txBox="1"/>
          <p:nvPr/>
        </p:nvSpPr>
        <p:spPr>
          <a:xfrm>
            <a:off x="6766560" y="2651760"/>
            <a:ext cx="1737360" cy="4114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権限</a:t>
            </a:r>
            <a:endParaRPr lang="en-US" sz="1300" dirty="0"/>
          </a:p>
        </p:txBody>
      </p:sp>
      <p:sp>
        <p:nvSpPr>
          <p:cNvPr id="21" name="mock-menu-3"/>
          <p:cNvSpPr txBox="1"/>
          <p:nvPr/>
        </p:nvSpPr>
        <p:spPr>
          <a:xfrm>
            <a:off x="6766560" y="315468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応答設定</a:t>
            </a:r>
            <a:endParaRPr lang="en-US" sz="1300" dirty="0"/>
          </a:p>
        </p:txBody>
      </p:sp>
      <p:sp>
        <p:nvSpPr>
          <p:cNvPr id="22" name="mock-menu-4"/>
          <p:cNvSpPr txBox="1"/>
          <p:nvPr/>
        </p:nvSpPr>
        <p:spPr>
          <a:xfrm>
            <a:off x="6766560" y="365760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Messaging API</a:t>
            </a:r>
            <a:endParaRPr lang="en-US" sz="1300" dirty="0"/>
          </a:p>
        </p:txBody>
      </p:sp>
      <p:sp>
        <p:nvSpPr>
          <p:cNvPr id="23" name="mock-highlight"/>
          <p:cNvSpPr/>
          <p:nvPr/>
        </p:nvSpPr>
        <p:spPr>
          <a:xfrm>
            <a:off x="6693408" y="2578608"/>
            <a:ext cx="1883664" cy="557784"/>
          </a:xfrm>
          <a:prstGeom prst="roundRect">
            <a:avLst>
              <a:gd name="adj" fmla="val 1967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4" name="mock-perm-heading"/>
          <p:cNvSpPr txBox="1"/>
          <p:nvPr/>
        </p:nvSpPr>
        <p:spPr>
          <a:xfrm>
            <a:off x="877824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権限</a:t>
            </a:r>
            <a:endParaRPr lang="en-US" sz="1700" dirty="0"/>
          </a:p>
        </p:txBody>
      </p:sp>
      <p:sp>
        <p:nvSpPr>
          <p:cNvPr id="25" name="mock-button-add"/>
          <p:cNvSpPr txBox="1"/>
          <p:nvPr/>
        </p:nvSpPr>
        <p:spPr>
          <a:xfrm>
            <a:off x="8778240" y="274320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メンバーを追加</a:t>
            </a:r>
            <a:endParaRPr lang="en-US" sz="1400" dirty="0"/>
          </a:p>
        </p:txBody>
      </p:sp>
      <p:sp>
        <p:nvSpPr>
          <p:cNvPr id="26" name="mock-role"/>
          <p:cNvSpPr txBox="1"/>
          <p:nvPr/>
        </p:nvSpPr>
        <p:spPr>
          <a:xfrm>
            <a:off x="8778240" y="3429000"/>
            <a:ext cx="246888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権限：管理者</a:t>
            </a:r>
            <a:endParaRPr lang="en-US" sz="1300" dirty="0"/>
          </a:p>
        </p:txBody>
      </p:sp>
      <p:sp>
        <p:nvSpPr>
          <p:cNvPr id="27" name="mock-button-url"/>
          <p:cNvSpPr txBox="1"/>
          <p:nvPr/>
        </p:nvSpPr>
        <p:spPr>
          <a:xfrm>
            <a:off x="8778240" y="406908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URLを発行</a:t>
            </a:r>
            <a:endParaRPr lang="en-US" sz="1400" dirty="0"/>
          </a:p>
        </p:txBody>
      </p:sp>
      <p:sp>
        <p:nvSpPr>
          <p:cNvPr id="28" name="mock-highlight"/>
          <p:cNvSpPr/>
          <p:nvPr/>
        </p:nvSpPr>
        <p:spPr>
          <a:xfrm>
            <a:off x="8705088" y="3995928"/>
            <a:ext cx="2615184" cy="603504"/>
          </a:xfrm>
          <a:prstGeom prst="roundRect">
            <a:avLst>
              <a:gd name="adj" fmla="val 1818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困ったときは</a:t>
            </a:r>
            <a:endParaRPr lang="en-US" sz="2800" dirty="0"/>
          </a:p>
        </p:txBody>
      </p:sp>
      <p:sp>
        <p:nvSpPr>
          <p:cNvPr id="3" name="faq-card-1"/>
          <p:cNvSpPr/>
          <p:nvPr/>
        </p:nvSpPr>
        <p:spPr>
          <a:xfrm>
            <a:off x="54864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4" name="faq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11480" cy="411480"/>
          </a:xfrm>
          <a:prstGeom prst="rect">
            <a:avLst/>
          </a:prstGeom>
        </p:spPr>
      </p:pic>
      <p:sp>
        <p:nvSpPr>
          <p:cNvPr id="5" name="faq-q-1"/>
          <p:cNvSpPr txBox="1"/>
          <p:nvPr/>
        </p:nvSpPr>
        <p:spPr>
          <a:xfrm>
            <a:off x="146304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メールが届かない</a:t>
            </a:r>
            <a:endParaRPr lang="en-US" sz="1800" dirty="0"/>
          </a:p>
        </p:txBody>
      </p:sp>
      <p:sp>
        <p:nvSpPr>
          <p:cNvPr id="6" name="faq-a-1"/>
          <p:cNvSpPr txBox="1"/>
          <p:nvPr/>
        </p:nvSpPr>
        <p:spPr>
          <a:xfrm>
            <a:off x="146304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迷惑メールフォルダを確認し、もう一度「登録用のリンクを送信」を押してください。</a:t>
            </a:r>
            <a:endParaRPr lang="en-US" sz="1400" dirty="0"/>
          </a:p>
        </p:txBody>
      </p:sp>
      <p:sp>
        <p:nvSpPr>
          <p:cNvPr id="7" name="faq-card-2"/>
          <p:cNvSpPr/>
          <p:nvPr/>
        </p:nvSpPr>
        <p:spPr>
          <a:xfrm>
            <a:off x="621792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8" name="faq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411480" cy="411480"/>
          </a:xfrm>
          <a:prstGeom prst="rect">
            <a:avLst/>
          </a:prstGeom>
        </p:spPr>
      </p:pic>
      <p:sp>
        <p:nvSpPr>
          <p:cNvPr id="9" name="faq-q-2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すでにビジネスIDがある</a:t>
            </a:r>
            <a:endParaRPr lang="en-US" sz="1800" dirty="0"/>
          </a:p>
        </p:txBody>
      </p:sp>
      <p:sp>
        <p:nvSpPr>
          <p:cNvPr id="10" name="faq-a-2"/>
          <p:cNvSpPr txBox="1"/>
          <p:nvPr/>
        </p:nvSpPr>
        <p:spPr>
          <a:xfrm>
            <a:off x="713232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「LINEビジネスIDでログイン」から進めば、新しく作る必要はありません。</a:t>
            </a:r>
            <a:endParaRPr lang="en-US" sz="1400" dirty="0"/>
          </a:p>
        </p:txBody>
      </p:sp>
      <p:sp>
        <p:nvSpPr>
          <p:cNvPr id="11" name="faq-card-3"/>
          <p:cNvSpPr/>
          <p:nvPr/>
        </p:nvSpPr>
        <p:spPr>
          <a:xfrm>
            <a:off x="54864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2" name="faq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13" name="faq-q-3"/>
          <p:cNvSpPr txBox="1"/>
          <p:nvPr/>
        </p:nvSpPr>
        <p:spPr>
          <a:xfrm>
            <a:off x="146304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アカウント名を変えたい</a:t>
            </a:r>
            <a:endParaRPr lang="en-US" sz="1800" dirty="0"/>
          </a:p>
        </p:txBody>
      </p:sp>
      <p:sp>
        <p:nvSpPr>
          <p:cNvPr id="14" name="faq-a-3"/>
          <p:cNvSpPr txBox="1"/>
          <p:nvPr/>
        </p:nvSpPr>
        <p:spPr>
          <a:xfrm>
            <a:off x="146304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管理画面の「設定」から後で変更できます。</a:t>
            </a:r>
            <a:endParaRPr lang="en-US" sz="1400" dirty="0"/>
          </a:p>
        </p:txBody>
      </p:sp>
      <p:sp>
        <p:nvSpPr>
          <p:cNvPr id="15" name="faq-card-4"/>
          <p:cNvSpPr/>
          <p:nvPr/>
        </p:nvSpPr>
        <p:spPr>
          <a:xfrm>
            <a:off x="621792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6" name="faq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69080"/>
            <a:ext cx="411480" cy="411480"/>
          </a:xfrm>
          <a:prstGeom prst="rect">
            <a:avLst/>
          </a:prstGeom>
        </p:spPr>
      </p:pic>
      <p:sp>
        <p:nvSpPr>
          <p:cNvPr id="17" name="faq-q-4"/>
          <p:cNvSpPr txBox="1"/>
          <p:nvPr/>
        </p:nvSpPr>
        <p:spPr>
          <a:xfrm>
            <a:off x="713232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料金が気になる</a:t>
            </a:r>
            <a:endParaRPr lang="en-US" sz="1800" dirty="0"/>
          </a:p>
        </p:txBody>
      </p:sp>
      <p:sp>
        <p:nvSpPr>
          <p:cNvPr id="18" name="faq-a-4"/>
          <p:cNvSpPr txBox="1"/>
          <p:nvPr/>
        </p:nvSpPr>
        <p:spPr>
          <a:xfrm>
            <a:off x="713232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無料プランで開始できます。配信数が増えたら有料プランを検討します。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開設後の設定は制作側で進めます</a:t>
            </a:r>
            <a:endParaRPr lang="en-US" sz="2800" dirty="0"/>
          </a:p>
        </p:txBody>
      </p:sp>
      <p:sp>
        <p:nvSpPr>
          <p:cNvPr id="3" name="after-circle-1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after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09344"/>
            <a:ext cx="393192" cy="393192"/>
          </a:xfrm>
          <a:prstGeom prst="rect">
            <a:avLst/>
          </a:prstGeom>
        </p:spPr>
      </p:pic>
      <p:sp>
        <p:nvSpPr>
          <p:cNvPr id="5" name="after-head-1"/>
          <p:cNvSpPr txBox="1"/>
          <p:nvPr/>
        </p:nvSpPr>
        <p:spPr>
          <a:xfrm>
            <a:off x="15544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プロフィール</a:t>
            </a:r>
            <a:endParaRPr lang="en-US" sz="1800" dirty="0"/>
          </a:p>
        </p:txBody>
      </p:sp>
      <p:sp>
        <p:nvSpPr>
          <p:cNvPr id="6" name="after-body-1"/>
          <p:cNvSpPr txBox="1"/>
          <p:nvPr/>
        </p:nvSpPr>
        <p:spPr>
          <a:xfrm>
            <a:off x="1554480" y="18013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ロゴ・営業時間・住所・ホームページを登録</a:t>
            </a:r>
            <a:endParaRPr lang="en-US" sz="1400" dirty="0"/>
          </a:p>
        </p:txBody>
      </p:sp>
      <p:sp>
        <p:nvSpPr>
          <p:cNvPr id="7" name="after-circle-2"/>
          <p:cNvSpPr/>
          <p:nvPr/>
        </p:nvSpPr>
        <p:spPr>
          <a:xfrm>
            <a:off x="548640" y="251460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after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706624"/>
            <a:ext cx="393192" cy="393192"/>
          </a:xfrm>
          <a:prstGeom prst="rect">
            <a:avLst/>
          </a:prstGeom>
        </p:spPr>
      </p:pic>
      <p:sp>
        <p:nvSpPr>
          <p:cNvPr id="9" name="after-head-2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あいさつメッセージ</a:t>
            </a:r>
            <a:endParaRPr lang="en-US" sz="1800" dirty="0"/>
          </a:p>
        </p:txBody>
      </p:sp>
      <p:sp>
        <p:nvSpPr>
          <p:cNvPr id="10" name="after-body-2"/>
          <p:cNvSpPr txBox="1"/>
          <p:nvPr/>
        </p:nvSpPr>
        <p:spPr>
          <a:xfrm>
            <a:off x="1554480" y="28986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友だち追加された直後に届くメッセージ</a:t>
            </a:r>
            <a:endParaRPr lang="en-US" sz="1400" dirty="0"/>
          </a:p>
        </p:txBody>
      </p:sp>
      <p:sp>
        <p:nvSpPr>
          <p:cNvPr id="11" name="after-circle-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after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03904"/>
            <a:ext cx="393192" cy="393192"/>
          </a:xfrm>
          <a:prstGeom prst="rect">
            <a:avLst/>
          </a:prstGeom>
        </p:spPr>
      </p:pic>
      <p:sp>
        <p:nvSpPr>
          <p:cNvPr id="13" name="after-head-3"/>
          <p:cNvSpPr txBox="1"/>
          <p:nvPr/>
        </p:nvSpPr>
        <p:spPr>
          <a:xfrm>
            <a:off x="155448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リッチメニュー</a:t>
            </a:r>
            <a:endParaRPr lang="en-US" sz="1800" dirty="0"/>
          </a:p>
        </p:txBody>
      </p:sp>
      <p:sp>
        <p:nvSpPr>
          <p:cNvPr id="14" name="after-body-3"/>
          <p:cNvSpPr txBox="1"/>
          <p:nvPr/>
        </p:nvSpPr>
        <p:spPr>
          <a:xfrm>
            <a:off x="1554480" y="39959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トーク画面の下に出るメニュー（次のページ）</a:t>
            </a:r>
            <a:endParaRPr lang="en-US" sz="1400" dirty="0"/>
          </a:p>
        </p:txBody>
      </p:sp>
      <p:sp>
        <p:nvSpPr>
          <p:cNvPr id="15" name="after-circle-4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after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393192" cy="393192"/>
          </a:xfrm>
          <a:prstGeom prst="rect">
            <a:avLst/>
          </a:prstGeom>
        </p:spPr>
      </p:pic>
      <p:sp>
        <p:nvSpPr>
          <p:cNvPr id="17" name="after-head-4"/>
          <p:cNvSpPr txBox="1"/>
          <p:nvPr/>
        </p:nvSpPr>
        <p:spPr>
          <a:xfrm>
            <a:off x="1554480" y="4663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認証済アカウント申請</a:t>
            </a:r>
            <a:endParaRPr lang="en-US" sz="1800" dirty="0"/>
          </a:p>
        </p:txBody>
      </p:sp>
      <p:sp>
        <p:nvSpPr>
          <p:cNvPr id="18" name="after-body-4"/>
          <p:cNvSpPr txBox="1"/>
          <p:nvPr/>
        </p:nvSpPr>
        <p:spPr>
          <a:xfrm>
            <a:off x="1554480" y="5093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青いバッジが付き、LINE内の検索に表示される</a:t>
            </a:r>
            <a:endParaRPr lang="en-US" sz="1400" dirty="0"/>
          </a:p>
        </p:txBody>
      </p:sp>
      <p:sp>
        <p:nvSpPr>
          <p:cNvPr id="19" name="ask-box"/>
          <p:cNvSpPr/>
          <p:nvPr/>
        </p:nvSpPr>
        <p:spPr>
          <a:xfrm>
            <a:off x="6400800" y="141732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</p:sp>
      <p:sp>
        <p:nvSpPr>
          <p:cNvPr id="20" name="ask-text"/>
          <p:cNvSpPr txBox="1"/>
          <p:nvPr/>
        </p:nvSpPr>
        <p:spPr>
          <a:xfrm>
            <a:off x="6766560" y="16916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お願いしたいこと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各ボタンのリンク先URL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建築実例・古河展示場 Room Tour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資料請求フォーム／見学予約フォーム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営業時間・定休日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展示場や施工の写真（あれば）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リッチメニューでできること</a:t>
            </a:r>
            <a:endParaRPr lang="en-US" sz="2800" dirty="0"/>
          </a:p>
        </p:txBody>
      </p:sp>
      <p:sp>
        <p:nvSpPr>
          <p:cNvPr id="3" name="phone-body"/>
          <p:cNvSpPr/>
          <p:nvPr/>
        </p:nvSpPr>
        <p:spPr>
          <a:xfrm>
            <a:off x="822960" y="1188720"/>
            <a:ext cx="3931920" cy="4983480"/>
          </a:xfrm>
          <a:prstGeom prst="roundRect">
            <a:avLst>
              <a:gd name="adj" fmla="val 8140"/>
            </a:avLst>
          </a:prstGeom>
          <a:solidFill>
            <a:schemeClr val="tx1"/>
          </a:solidFill>
          <a:ln/>
        </p:spPr>
      </p:sp>
      <p:sp>
        <p:nvSpPr>
          <p:cNvPr id="4" name="phone-screen"/>
          <p:cNvSpPr/>
          <p:nvPr/>
        </p:nvSpPr>
        <p:spPr>
          <a:xfrm>
            <a:off x="987552" y="1508760"/>
            <a:ext cx="3602736" cy="4343400"/>
          </a:xfrm>
          <a:prstGeom prst="rect">
            <a:avLst/>
          </a:prstGeom>
          <a:solidFill>
            <a:srgbClr val="8CABD9"/>
          </a:solidFill>
          <a:ln/>
        </p:spPr>
      </p:sp>
      <p:sp>
        <p:nvSpPr>
          <p:cNvPr id="5" name="phone-header"/>
          <p:cNvSpPr txBox="1"/>
          <p:nvPr/>
        </p:nvSpPr>
        <p:spPr>
          <a:xfrm>
            <a:off x="987552" y="1508760"/>
            <a:ext cx="3602736" cy="384048"/>
          </a:xfrm>
          <a:prstGeom prst="rect">
            <a:avLst/>
          </a:prstGeom>
          <a:solidFill>
            <a:srgbClr val="6E8D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ハウスワーク</a:t>
            </a:r>
            <a:endParaRPr lang="en-US" sz="1200" dirty="0"/>
          </a:p>
        </p:txBody>
      </p:sp>
      <p:sp>
        <p:nvSpPr>
          <p:cNvPr id="6" name="phone-message"/>
          <p:cNvSpPr txBox="1"/>
          <p:nvPr/>
        </p:nvSpPr>
        <p:spPr>
          <a:xfrm>
            <a:off x="1170432" y="2057400"/>
            <a:ext cx="2651760" cy="457200"/>
          </a:xfrm>
          <a:prstGeom prst="roundRect">
            <a:avLst>
              <a:gd name="adj" fmla="val 30000"/>
            </a:avLst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友だち追加ありがとうございます！</a:t>
            </a:r>
            <a:endParaRPr lang="en-US" sz="1100" dirty="0"/>
          </a:p>
        </p:txBody>
      </p:sp>
      <p:pic>
        <p:nvPicPr>
          <p:cNvPr id="7" name="richmenu-image" descr="/home/user/my-first-project_atinterior/line-richmenu/rich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422475"/>
            <a:ext cx="3602736" cy="2429685"/>
          </a:xfrm>
          <a:prstGeom prst="rect">
            <a:avLst/>
          </a:prstGeom>
        </p:spPr>
      </p:pic>
      <p:sp>
        <p:nvSpPr>
          <p:cNvPr id="8" name="menu-badge-1"/>
          <p:cNvSpPr txBox="1"/>
          <p:nvPr/>
        </p:nvSpPr>
        <p:spPr>
          <a:xfrm>
            <a:off x="4178808" y="3486483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menu-badge-2"/>
          <p:cNvSpPr txBox="1"/>
          <p:nvPr/>
        </p:nvSpPr>
        <p:spPr>
          <a:xfrm>
            <a:off x="1776984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enu-badge-3"/>
          <p:cNvSpPr txBox="1"/>
          <p:nvPr/>
        </p:nvSpPr>
        <p:spPr>
          <a:xfrm>
            <a:off x="2977896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menu-badge-4"/>
          <p:cNvSpPr txBox="1"/>
          <p:nvPr/>
        </p:nvSpPr>
        <p:spPr>
          <a:xfrm>
            <a:off x="4178808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menu-num-1"/>
          <p:cNvSpPr txBox="1"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menu-head-1"/>
          <p:cNvSpPr txBox="1"/>
          <p:nvPr/>
        </p:nvSpPr>
        <p:spPr>
          <a:xfrm>
            <a:off x="6172200" y="1307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ハウスワークの家</a:t>
            </a:r>
            <a:endParaRPr lang="en-US" sz="1900" dirty="0"/>
          </a:p>
        </p:txBody>
      </p:sp>
      <p:sp>
        <p:nvSpPr>
          <p:cNvPr id="14" name="menu-body-1"/>
          <p:cNvSpPr txBox="1"/>
          <p:nvPr/>
        </p:nvSpPr>
        <p:spPr>
          <a:xfrm>
            <a:off x="617220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選べるデザイン注文住宅。会社と家づくりの紹介</a:t>
            </a:r>
            <a:endParaRPr lang="en-US" sz="1400" dirty="0"/>
          </a:p>
        </p:txBody>
      </p:sp>
      <p:sp>
        <p:nvSpPr>
          <p:cNvPr id="15" name="menu-num-2"/>
          <p:cNvSpPr txBox="1"/>
          <p:nvPr/>
        </p:nvSpPr>
        <p:spPr>
          <a:xfrm>
            <a:off x="5486400" y="2514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menu-head-2"/>
          <p:cNvSpPr txBox="1"/>
          <p:nvPr/>
        </p:nvSpPr>
        <p:spPr>
          <a:xfrm>
            <a:off x="617220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建築実例</a:t>
            </a:r>
            <a:endParaRPr lang="en-US" sz="1900" dirty="0"/>
          </a:p>
        </p:txBody>
      </p:sp>
      <p:sp>
        <p:nvSpPr>
          <p:cNvPr id="17" name="menu-body-2"/>
          <p:cNvSpPr txBox="1"/>
          <p:nvPr/>
        </p:nvSpPr>
        <p:spPr>
          <a:xfrm>
            <a:off x="6172200" y="2971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施工事例と、古河展示場の Room Tour 動画が見られる</a:t>
            </a:r>
            <a:endParaRPr lang="en-US" sz="1400" dirty="0"/>
          </a:p>
        </p:txBody>
      </p:sp>
      <p:sp>
        <p:nvSpPr>
          <p:cNvPr id="18" name="menu-num-3"/>
          <p:cNvSpPr txBox="1"/>
          <p:nvPr/>
        </p:nvSpPr>
        <p:spPr>
          <a:xfrm>
            <a:off x="5486400" y="3703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menu-head-3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家づくり資料プレゼント</a:t>
            </a:r>
            <a:endParaRPr lang="en-US" sz="1900" dirty="0"/>
          </a:p>
        </p:txBody>
      </p:sp>
      <p:sp>
        <p:nvSpPr>
          <p:cNvPr id="20" name="menu-body-3"/>
          <p:cNvSpPr txBox="1"/>
          <p:nvPr/>
        </p:nvSpPr>
        <p:spPr>
          <a:xfrm>
            <a:off x="6172200" y="4160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家づくりの資料を申し込める</a:t>
            </a:r>
            <a:endParaRPr lang="en-US" sz="1400" dirty="0"/>
          </a:p>
        </p:txBody>
      </p:sp>
      <p:sp>
        <p:nvSpPr>
          <p:cNvPr id="21" name="menu-num-4"/>
          <p:cNvSpPr txBox="1"/>
          <p:nvPr/>
        </p:nvSpPr>
        <p:spPr>
          <a:xfrm>
            <a:off x="548640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menu-head-4"/>
          <p:cNvSpPr txBox="1"/>
          <p:nvPr/>
        </p:nvSpPr>
        <p:spPr>
          <a:xfrm>
            <a:off x="6172200" y="48737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見学予約</a:t>
            </a:r>
            <a:endParaRPr lang="en-US" sz="1900" dirty="0"/>
          </a:p>
        </p:txBody>
      </p:sp>
      <p:sp>
        <p:nvSpPr>
          <p:cNvPr id="23" name="menu-body-4"/>
          <p:cNvSpPr txBox="1"/>
          <p:nvPr/>
        </p:nvSpPr>
        <p:spPr>
          <a:xfrm>
            <a:off x="617220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展示場の見学をその場で予約できる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LINE公式アカウント 開設手順書</dc:title>
  <dc:subject>PptxGenJS Presentation</dc:subject>
  <dc:creator>株式会社ハウスワーク</dc:creator>
  <cp:lastModifiedBy>株式会社ハウスワーク</cp:lastModifiedBy>
  <cp:revision>1</cp:revision>
  <dcterms:created xsi:type="dcterms:W3CDTF">2026-10-10T08:25:04Z</dcterms:created>
  <dcterms:modified xsi:type="dcterms:W3CDTF">2026-10-10T08:25:04Z</dcterms:modified>
</cp:coreProperties>
</file>