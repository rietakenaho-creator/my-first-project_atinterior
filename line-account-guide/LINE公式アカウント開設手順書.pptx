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はじめに" id="{f378ee17-c749-c4e4-8a6c-58efe94336a9}">
          <p14:sldIdLst>
            <p14:sldId id="256"/>
            <p14:sldId id="257"/>
            <p14:sldId id="258"/>
          </p14:sldIdLst>
        </p14:section>
        <p14:section name="開設手順" id="{4f2566ed-bbe0-ddf9-51e0-62476391b8d2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開設後" id="{8fbc9f71-3e4f-0369-ace0-a0efe6b6006a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本日はこの資料を見ながら、一緒にLINE公式アカウントを開設します。15分ほどで完了します。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全体で15分ほどです。STEP6の招待までしていただければ、残りの設定はこちらで進めます。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メールアドレスは個人用ではなく、会社で共有しているものがおすすめです。担当者が替わっても引き継げます。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ブラウザで entry.line.biz を開き、緑の「LINE公式アカウントの開設（無料）」ボタンを押してください。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必ず「メールアドレスで登録」を選びます。入力したアドレスに登録用のリンクが届きます。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パスワードはこの場で社内の管理表などに控えておいてください。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表のとおりに入力します。業種は「住宅・不動産」を選び、小業種は工務店・住宅メーカーに近いものを選んでください。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ここで開設は完了です。続けて管理画面から制作担当を招待します。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発行したURLをメールやLINEで制作担当に送ってください。24時間以内に承認します。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友だち追加すると、トーク画面の下にこのメニューが表示されます。ボタンを押すだけで各ページが開きます。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W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86200"/>
            <a:ext cx="69494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W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3268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LINE公式アカウント 開設手順書</a:t>
            </a:r>
            <a:endParaRPr lang="en-US" sz="1000" dirty="0"/>
          </a:p>
        </p:txBody>
      </p:sp>
      <p:pic>
        <p:nvPicPr>
          <p:cNvPr id="4" name="Image 0" descr="/home/user/my-first-project_atinterior/line-account-gui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6217920"/>
            <a:ext cx="758952" cy="502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498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498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LINE公式アカウント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開設手順書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株式会社ハウスワーク 様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所要時間 約15分・開設は無料です</a:t>
            </a:r>
            <a:endParaRPr lang="en-US" sz="1800" dirty="0"/>
          </a:p>
        </p:txBody>
      </p:sp>
      <p:sp>
        <p:nvSpPr>
          <p:cNvPr id="4" name="logo-card"/>
          <p:cNvSpPr/>
          <p:nvPr/>
        </p:nvSpPr>
        <p:spPr>
          <a:xfrm>
            <a:off x="8229600" y="1920240"/>
            <a:ext cx="3200400" cy="301752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/>
        </p:spPr>
      </p:sp>
      <p:pic>
        <p:nvPicPr>
          <p:cNvPr id="5" name="logo" descr="/home/user/my-first-project_atinterior/line-account-gui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2514600"/>
            <a:ext cx="2651760" cy="17556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開設までの流れ</a:t>
            </a:r>
            <a:endParaRPr lang="en-US" sz="2800" dirty="0"/>
          </a:p>
        </p:txBody>
      </p:sp>
      <p:sp>
        <p:nvSpPr>
          <p:cNvPr id="3" name="flow-arrow-1"/>
          <p:cNvSpPr/>
          <p:nvPr/>
        </p:nvSpPr>
        <p:spPr>
          <a:xfrm>
            <a:off x="1843888" y="2514600"/>
            <a:ext cx="8229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4" name="flow-circle-1"/>
          <p:cNvSpPr/>
          <p:nvPr/>
        </p:nvSpPr>
        <p:spPr>
          <a:xfrm>
            <a:off x="792328" y="2011680"/>
            <a:ext cx="1005840" cy="10058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flow-icon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648" y="2286000"/>
            <a:ext cx="457200" cy="457200"/>
          </a:xfrm>
          <a:prstGeom prst="rect">
            <a:avLst/>
          </a:prstGeom>
        </p:spPr>
      </p:pic>
      <p:sp>
        <p:nvSpPr>
          <p:cNvPr id="6" name="flow-step-1"/>
          <p:cNvSpPr txBox="1"/>
          <p:nvPr/>
        </p:nvSpPr>
        <p:spPr>
          <a:xfrm>
            <a:off x="403708" y="3246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STEP 1</a:t>
            </a:r>
            <a:endParaRPr lang="en-US" sz="1200" dirty="0"/>
          </a:p>
        </p:txBody>
      </p:sp>
      <p:sp>
        <p:nvSpPr>
          <p:cNvPr id="7" name="flow-label-1"/>
          <p:cNvSpPr txBox="1"/>
          <p:nvPr/>
        </p:nvSpPr>
        <p:spPr>
          <a:xfrm>
            <a:off x="403708" y="35661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申込みページを開く</a:t>
            </a:r>
            <a:endParaRPr lang="en-US" sz="1400" dirty="0"/>
          </a:p>
        </p:txBody>
      </p:sp>
      <p:sp>
        <p:nvSpPr>
          <p:cNvPr id="8" name="flow-time-1"/>
          <p:cNvSpPr txBox="1"/>
          <p:nvPr/>
        </p:nvSpPr>
        <p:spPr>
          <a:xfrm>
            <a:off x="403708" y="3977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1分</a:t>
            </a:r>
            <a:endParaRPr lang="en-US" sz="1200" dirty="0"/>
          </a:p>
        </p:txBody>
      </p:sp>
      <p:sp>
        <p:nvSpPr>
          <p:cNvPr id="9" name="flow-arrow-2"/>
          <p:cNvSpPr/>
          <p:nvPr/>
        </p:nvSpPr>
        <p:spPr>
          <a:xfrm>
            <a:off x="3764128" y="2514600"/>
            <a:ext cx="8229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0" name="flow-circle-2"/>
          <p:cNvSpPr/>
          <p:nvPr/>
        </p:nvSpPr>
        <p:spPr>
          <a:xfrm>
            <a:off x="2712568" y="2011680"/>
            <a:ext cx="1005840" cy="10058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flow-icon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888" y="2286000"/>
            <a:ext cx="457200" cy="457200"/>
          </a:xfrm>
          <a:prstGeom prst="rect">
            <a:avLst/>
          </a:prstGeom>
        </p:spPr>
      </p:pic>
      <p:sp>
        <p:nvSpPr>
          <p:cNvPr id="12" name="flow-step-2"/>
          <p:cNvSpPr txBox="1"/>
          <p:nvPr/>
        </p:nvSpPr>
        <p:spPr>
          <a:xfrm>
            <a:off x="2323948" y="3246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STEP 2</a:t>
            </a:r>
            <a:endParaRPr lang="en-US" sz="1200" dirty="0"/>
          </a:p>
        </p:txBody>
      </p:sp>
      <p:sp>
        <p:nvSpPr>
          <p:cNvPr id="13" name="flow-label-2"/>
          <p:cNvSpPr txBox="1"/>
          <p:nvPr/>
        </p:nvSpPr>
        <p:spPr>
          <a:xfrm>
            <a:off x="2323948" y="35661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メールで登録</a:t>
            </a:r>
            <a:endParaRPr lang="en-US" sz="1400" dirty="0"/>
          </a:p>
        </p:txBody>
      </p:sp>
      <p:sp>
        <p:nvSpPr>
          <p:cNvPr id="14" name="flow-time-2"/>
          <p:cNvSpPr txBox="1"/>
          <p:nvPr/>
        </p:nvSpPr>
        <p:spPr>
          <a:xfrm>
            <a:off x="2323948" y="3977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2分</a:t>
            </a:r>
            <a:endParaRPr lang="en-US" sz="1200" dirty="0"/>
          </a:p>
        </p:txBody>
      </p:sp>
      <p:sp>
        <p:nvSpPr>
          <p:cNvPr id="15" name="flow-arrow-3"/>
          <p:cNvSpPr/>
          <p:nvPr/>
        </p:nvSpPr>
        <p:spPr>
          <a:xfrm>
            <a:off x="5684368" y="2514600"/>
            <a:ext cx="8229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6" name="flow-circle-3"/>
          <p:cNvSpPr/>
          <p:nvPr/>
        </p:nvSpPr>
        <p:spPr>
          <a:xfrm>
            <a:off x="4632808" y="2011680"/>
            <a:ext cx="1005840" cy="10058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7" name="flow-icon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128" y="2286000"/>
            <a:ext cx="457200" cy="457200"/>
          </a:xfrm>
          <a:prstGeom prst="rect">
            <a:avLst/>
          </a:prstGeom>
        </p:spPr>
      </p:pic>
      <p:sp>
        <p:nvSpPr>
          <p:cNvPr id="18" name="flow-step-3"/>
          <p:cNvSpPr txBox="1"/>
          <p:nvPr/>
        </p:nvSpPr>
        <p:spPr>
          <a:xfrm>
            <a:off x="4244188" y="3246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STEP 3</a:t>
            </a:r>
            <a:endParaRPr lang="en-US" sz="1200" dirty="0"/>
          </a:p>
        </p:txBody>
      </p:sp>
      <p:sp>
        <p:nvSpPr>
          <p:cNvPr id="19" name="flow-label-3"/>
          <p:cNvSpPr txBox="1"/>
          <p:nvPr/>
        </p:nvSpPr>
        <p:spPr>
          <a:xfrm>
            <a:off x="4244188" y="35661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ビジネスIDを作成</a:t>
            </a:r>
            <a:endParaRPr lang="en-US" sz="1400" dirty="0"/>
          </a:p>
        </p:txBody>
      </p:sp>
      <p:sp>
        <p:nvSpPr>
          <p:cNvPr id="20" name="flow-time-3"/>
          <p:cNvSpPr txBox="1"/>
          <p:nvPr/>
        </p:nvSpPr>
        <p:spPr>
          <a:xfrm>
            <a:off x="4244188" y="3977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3分</a:t>
            </a:r>
            <a:endParaRPr lang="en-US" sz="1200" dirty="0"/>
          </a:p>
        </p:txBody>
      </p:sp>
      <p:sp>
        <p:nvSpPr>
          <p:cNvPr id="21" name="flow-arrow-4"/>
          <p:cNvSpPr/>
          <p:nvPr/>
        </p:nvSpPr>
        <p:spPr>
          <a:xfrm>
            <a:off x="7604608" y="2514600"/>
            <a:ext cx="8229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2" name="flow-circle-4"/>
          <p:cNvSpPr/>
          <p:nvPr/>
        </p:nvSpPr>
        <p:spPr>
          <a:xfrm>
            <a:off x="6553048" y="2011680"/>
            <a:ext cx="1005840" cy="10058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3" name="flow-icon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7368" y="2286000"/>
            <a:ext cx="457200" cy="457200"/>
          </a:xfrm>
          <a:prstGeom prst="rect">
            <a:avLst/>
          </a:prstGeom>
        </p:spPr>
      </p:pic>
      <p:sp>
        <p:nvSpPr>
          <p:cNvPr id="24" name="flow-step-4"/>
          <p:cNvSpPr txBox="1"/>
          <p:nvPr/>
        </p:nvSpPr>
        <p:spPr>
          <a:xfrm>
            <a:off x="6164428" y="3246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STEP 4</a:t>
            </a:r>
            <a:endParaRPr lang="en-US" sz="1200" dirty="0"/>
          </a:p>
        </p:txBody>
      </p:sp>
      <p:sp>
        <p:nvSpPr>
          <p:cNvPr id="25" name="flow-label-4"/>
          <p:cNvSpPr txBox="1"/>
          <p:nvPr/>
        </p:nvSpPr>
        <p:spPr>
          <a:xfrm>
            <a:off x="6164428" y="35661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情報を入力</a:t>
            </a:r>
            <a:endParaRPr lang="en-US" sz="1400" dirty="0"/>
          </a:p>
        </p:txBody>
      </p:sp>
      <p:sp>
        <p:nvSpPr>
          <p:cNvPr id="26" name="flow-time-4"/>
          <p:cNvSpPr txBox="1"/>
          <p:nvPr/>
        </p:nvSpPr>
        <p:spPr>
          <a:xfrm>
            <a:off x="6164428" y="3977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5分</a:t>
            </a:r>
            <a:endParaRPr lang="en-US" sz="1200" dirty="0"/>
          </a:p>
        </p:txBody>
      </p:sp>
      <p:sp>
        <p:nvSpPr>
          <p:cNvPr id="27" name="flow-arrow-5"/>
          <p:cNvSpPr/>
          <p:nvPr/>
        </p:nvSpPr>
        <p:spPr>
          <a:xfrm>
            <a:off x="9524848" y="2514600"/>
            <a:ext cx="8229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8" name="flow-circle-5"/>
          <p:cNvSpPr/>
          <p:nvPr/>
        </p:nvSpPr>
        <p:spPr>
          <a:xfrm>
            <a:off x="8473288" y="2011680"/>
            <a:ext cx="1005840" cy="10058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9" name="flow-icon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7608" y="2286000"/>
            <a:ext cx="457200" cy="457200"/>
          </a:xfrm>
          <a:prstGeom prst="rect">
            <a:avLst/>
          </a:prstGeom>
        </p:spPr>
      </p:pic>
      <p:sp>
        <p:nvSpPr>
          <p:cNvPr id="30" name="flow-step-5"/>
          <p:cNvSpPr txBox="1"/>
          <p:nvPr/>
        </p:nvSpPr>
        <p:spPr>
          <a:xfrm>
            <a:off x="8084668" y="3246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STEP 5</a:t>
            </a:r>
            <a:endParaRPr lang="en-US" sz="1200" dirty="0"/>
          </a:p>
        </p:txBody>
      </p:sp>
      <p:sp>
        <p:nvSpPr>
          <p:cNvPr id="31" name="flow-label-5"/>
          <p:cNvSpPr txBox="1"/>
          <p:nvPr/>
        </p:nvSpPr>
        <p:spPr>
          <a:xfrm>
            <a:off x="8084668" y="35661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開設完了</a:t>
            </a:r>
            <a:endParaRPr lang="en-US" sz="1400" dirty="0"/>
          </a:p>
        </p:txBody>
      </p:sp>
      <p:sp>
        <p:nvSpPr>
          <p:cNvPr id="32" name="flow-time-5"/>
          <p:cNvSpPr txBox="1"/>
          <p:nvPr/>
        </p:nvSpPr>
        <p:spPr>
          <a:xfrm>
            <a:off x="8084668" y="3977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1分</a:t>
            </a:r>
            <a:endParaRPr lang="en-US" sz="1200" dirty="0"/>
          </a:p>
        </p:txBody>
      </p:sp>
      <p:sp>
        <p:nvSpPr>
          <p:cNvPr id="33" name="flow-circle-6"/>
          <p:cNvSpPr/>
          <p:nvPr/>
        </p:nvSpPr>
        <p:spPr>
          <a:xfrm>
            <a:off x="10393528" y="201168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flow-icon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7848" y="2286000"/>
            <a:ext cx="457200" cy="457200"/>
          </a:xfrm>
          <a:prstGeom prst="rect">
            <a:avLst/>
          </a:prstGeom>
        </p:spPr>
      </p:pic>
      <p:sp>
        <p:nvSpPr>
          <p:cNvPr id="35" name="flow-step-6"/>
          <p:cNvSpPr txBox="1"/>
          <p:nvPr/>
        </p:nvSpPr>
        <p:spPr>
          <a:xfrm>
            <a:off x="10004908" y="3246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STEP 6</a:t>
            </a:r>
            <a:endParaRPr lang="en-US" sz="1200" dirty="0"/>
          </a:p>
        </p:txBody>
      </p:sp>
      <p:sp>
        <p:nvSpPr>
          <p:cNvPr id="36" name="flow-label-6"/>
          <p:cNvSpPr txBox="1"/>
          <p:nvPr/>
        </p:nvSpPr>
        <p:spPr>
          <a:xfrm>
            <a:off x="10004908" y="35661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制作担当を招待</a:t>
            </a:r>
            <a:endParaRPr lang="en-US" sz="1400" dirty="0"/>
          </a:p>
        </p:txBody>
      </p:sp>
      <p:sp>
        <p:nvSpPr>
          <p:cNvPr id="37" name="flow-time-6"/>
          <p:cNvSpPr txBox="1"/>
          <p:nvPr/>
        </p:nvSpPr>
        <p:spPr>
          <a:xfrm>
            <a:off x="10004908" y="3977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3分</a:t>
            </a:r>
            <a:endParaRPr lang="en-US" sz="1200" dirty="0"/>
          </a:p>
        </p:txBody>
      </p:sp>
      <p:sp>
        <p:nvSpPr>
          <p:cNvPr id="38" name="flow-summary"/>
          <p:cNvSpPr txBox="1"/>
          <p:nvPr/>
        </p:nvSpPr>
        <p:spPr>
          <a:xfrm>
            <a:off x="1097280" y="5074920"/>
            <a:ext cx="996696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STEP 1〜5 で開設完了。STEP 6 で制作担当を招待すると、プロフィールやリッチメニューの設定を代わりに進められます。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498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事前に準備するもの</a:t>
            </a:r>
            <a:endParaRPr lang="en-US" sz="2800" dirty="0"/>
          </a:p>
        </p:txBody>
      </p:sp>
      <p:sp>
        <p:nvSpPr>
          <p:cNvPr id="3" name="check"/>
          <p:cNvSpPr txBox="1"/>
          <p:nvPr/>
        </p:nvSpPr>
        <p:spPr>
          <a:xfrm>
            <a:off x="10469880" y="457200"/>
            <a:ext cx="114300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☐ 完了</a:t>
            </a:r>
            <a:endParaRPr lang="en-US" sz="1400" dirty="0"/>
          </a:p>
        </p:txBody>
      </p:sp>
      <p:sp>
        <p:nvSpPr>
          <p:cNvPr id="4" name="prep-card-1"/>
          <p:cNvSpPr/>
          <p:nvPr/>
        </p:nvSpPr>
        <p:spPr>
          <a:xfrm>
            <a:off x="548640" y="141732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pic>
        <p:nvPicPr>
          <p:cNvPr id="5" name="prep-icon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37360"/>
            <a:ext cx="457200" cy="457200"/>
          </a:xfrm>
          <a:prstGeom prst="rect">
            <a:avLst/>
          </a:prstGeom>
        </p:spPr>
      </p:pic>
      <p:sp>
        <p:nvSpPr>
          <p:cNvPr id="6" name="prep-head-1"/>
          <p:cNvSpPr txBox="1"/>
          <p:nvPr/>
        </p:nvSpPr>
        <p:spPr>
          <a:xfrm>
            <a:off x="1508760" y="1691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共有メールアドレス</a:t>
            </a:r>
            <a:endParaRPr lang="en-US" sz="1700" dirty="0"/>
          </a:p>
        </p:txBody>
      </p:sp>
      <p:sp>
        <p:nvSpPr>
          <p:cNvPr id="7" name="prep-body-1"/>
          <p:cNvSpPr txBox="1"/>
          <p:nvPr/>
        </p:nvSpPr>
        <p:spPr>
          <a:xfrm>
            <a:off x="868680" y="23774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info@ など。当日メールを受信できる状態にしておきます</a:t>
            </a:r>
            <a:endParaRPr lang="en-US" sz="1400" dirty="0"/>
          </a:p>
        </p:txBody>
      </p:sp>
      <p:sp>
        <p:nvSpPr>
          <p:cNvPr id="8" name="prep-card-2"/>
          <p:cNvSpPr/>
          <p:nvPr/>
        </p:nvSpPr>
        <p:spPr>
          <a:xfrm>
            <a:off x="4343400" y="141732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pic>
        <p:nvPicPr>
          <p:cNvPr id="9" name="prep-icon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737360"/>
            <a:ext cx="457200" cy="457200"/>
          </a:xfrm>
          <a:prstGeom prst="rect">
            <a:avLst/>
          </a:prstGeom>
        </p:spPr>
      </p:pic>
      <p:sp>
        <p:nvSpPr>
          <p:cNvPr id="10" name="prep-head-2"/>
          <p:cNvSpPr txBox="1"/>
          <p:nvPr/>
        </p:nvSpPr>
        <p:spPr>
          <a:xfrm>
            <a:off x="5303520" y="1691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パスワード</a:t>
            </a:r>
            <a:endParaRPr lang="en-US" sz="1700" dirty="0"/>
          </a:p>
        </p:txBody>
      </p:sp>
      <p:sp>
        <p:nvSpPr>
          <p:cNvPr id="11" name="prep-body-2"/>
          <p:cNvSpPr txBox="1"/>
          <p:nvPr/>
        </p:nvSpPr>
        <p:spPr>
          <a:xfrm>
            <a:off x="4663440" y="23774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8文字以上の英数字。社内で保管してください</a:t>
            </a:r>
            <a:endParaRPr lang="en-US" sz="1400" dirty="0"/>
          </a:p>
        </p:txBody>
      </p:sp>
      <p:sp>
        <p:nvSpPr>
          <p:cNvPr id="12" name="prep-card-3"/>
          <p:cNvSpPr/>
          <p:nvPr/>
        </p:nvSpPr>
        <p:spPr>
          <a:xfrm>
            <a:off x="8138160" y="141732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pic>
        <p:nvPicPr>
          <p:cNvPr id="13" name="prep-icon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737360"/>
            <a:ext cx="457200" cy="457200"/>
          </a:xfrm>
          <a:prstGeom prst="rect">
            <a:avLst/>
          </a:prstGeom>
        </p:spPr>
      </p:pic>
      <p:sp>
        <p:nvSpPr>
          <p:cNvPr id="14" name="prep-head-3"/>
          <p:cNvSpPr txBox="1"/>
          <p:nvPr/>
        </p:nvSpPr>
        <p:spPr>
          <a:xfrm>
            <a:off x="9098280" y="1691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会社情報</a:t>
            </a:r>
            <a:endParaRPr lang="en-US" sz="1700" dirty="0"/>
          </a:p>
        </p:txBody>
      </p:sp>
      <p:sp>
        <p:nvSpPr>
          <p:cNvPr id="15" name="prep-body-3"/>
          <p:cNvSpPr txBox="1"/>
          <p:nvPr/>
        </p:nvSpPr>
        <p:spPr>
          <a:xfrm>
            <a:off x="8458200" y="23774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会社名・住所・電話番号・ホームページURL</a:t>
            </a:r>
            <a:endParaRPr lang="en-US" sz="1400" dirty="0"/>
          </a:p>
        </p:txBody>
      </p:sp>
      <p:sp>
        <p:nvSpPr>
          <p:cNvPr id="16" name="prep-card-4"/>
          <p:cNvSpPr/>
          <p:nvPr/>
        </p:nvSpPr>
        <p:spPr>
          <a:xfrm>
            <a:off x="548640" y="365760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pic>
        <p:nvPicPr>
          <p:cNvPr id="17" name="prep-icon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977640"/>
            <a:ext cx="457200" cy="457200"/>
          </a:xfrm>
          <a:prstGeom prst="rect">
            <a:avLst/>
          </a:prstGeom>
        </p:spPr>
      </p:pic>
      <p:sp>
        <p:nvSpPr>
          <p:cNvPr id="18" name="prep-head-4"/>
          <p:cNvSpPr txBox="1"/>
          <p:nvPr/>
        </p:nvSpPr>
        <p:spPr>
          <a:xfrm>
            <a:off x="1508760" y="3931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パソコン</a:t>
            </a:r>
            <a:endParaRPr lang="en-US" sz="1700" dirty="0"/>
          </a:p>
        </p:txBody>
      </p:sp>
      <p:sp>
        <p:nvSpPr>
          <p:cNvPr id="19" name="prep-body-4"/>
          <p:cNvSpPr txBox="1"/>
          <p:nvPr/>
        </p:nvSpPr>
        <p:spPr>
          <a:xfrm>
            <a:off x="868680" y="46177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Chrome などのブラウザで操作します</a:t>
            </a:r>
            <a:endParaRPr lang="en-US" sz="1400" dirty="0"/>
          </a:p>
        </p:txBody>
      </p:sp>
      <p:sp>
        <p:nvSpPr>
          <p:cNvPr id="20" name="prep-card-5"/>
          <p:cNvSpPr/>
          <p:nvPr/>
        </p:nvSpPr>
        <p:spPr>
          <a:xfrm>
            <a:off x="4343400" y="365760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pic>
        <p:nvPicPr>
          <p:cNvPr id="21" name="prep-icon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977640"/>
            <a:ext cx="457200" cy="457200"/>
          </a:xfrm>
          <a:prstGeom prst="rect">
            <a:avLst/>
          </a:prstGeom>
        </p:spPr>
      </p:pic>
      <p:sp>
        <p:nvSpPr>
          <p:cNvPr id="22" name="prep-head-5"/>
          <p:cNvSpPr txBox="1"/>
          <p:nvPr/>
        </p:nvSpPr>
        <p:spPr>
          <a:xfrm>
            <a:off x="5303520" y="3931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スマートフォン</a:t>
            </a:r>
            <a:endParaRPr lang="en-US" sz="1700" dirty="0"/>
          </a:p>
        </p:txBody>
      </p:sp>
      <p:sp>
        <p:nvSpPr>
          <p:cNvPr id="23" name="prep-body-5"/>
          <p:cNvSpPr txBox="1"/>
          <p:nvPr/>
        </p:nvSpPr>
        <p:spPr>
          <a:xfrm>
            <a:off x="4663440" y="46177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LINEアプリが入ったもの。確認や動作チェックに使います</a:t>
            </a:r>
            <a:endParaRPr lang="en-US" sz="1400" dirty="0"/>
          </a:p>
        </p:txBody>
      </p:sp>
      <p:sp>
        <p:nvSpPr>
          <p:cNvPr id="24" name="prep-card-6"/>
          <p:cNvSpPr/>
          <p:nvPr/>
        </p:nvSpPr>
        <p:spPr>
          <a:xfrm>
            <a:off x="8138160" y="3657600"/>
            <a:ext cx="35204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pic>
        <p:nvPicPr>
          <p:cNvPr id="25" name="prep-icon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3977640"/>
            <a:ext cx="457200" cy="457200"/>
          </a:xfrm>
          <a:prstGeom prst="rect">
            <a:avLst/>
          </a:prstGeom>
        </p:spPr>
      </p:pic>
      <p:sp>
        <p:nvSpPr>
          <p:cNvPr id="26" name="prep-head-6"/>
          <p:cNvSpPr txBox="1"/>
          <p:nvPr/>
        </p:nvSpPr>
        <p:spPr>
          <a:xfrm>
            <a:off x="9098280" y="3931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ロゴ画像</a:t>
            </a:r>
            <a:endParaRPr lang="en-US" sz="1700" dirty="0"/>
          </a:p>
        </p:txBody>
      </p:sp>
      <p:sp>
        <p:nvSpPr>
          <p:cNvPr id="27" name="prep-body-6"/>
          <p:cNvSpPr txBox="1"/>
          <p:nvPr/>
        </p:nvSpPr>
        <p:spPr>
          <a:xfrm>
            <a:off x="8458200" y="46177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プロフィール設定で使います（後日でも可）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498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STEP 1　</a:t>
            </a:r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申込みページを開く</a:t>
            </a:r>
            <a:endParaRPr lang="en-US" sz="2800" dirty="0"/>
          </a:p>
        </p:txBody>
      </p:sp>
      <p:sp>
        <p:nvSpPr>
          <p:cNvPr id="3" name="check"/>
          <p:cNvSpPr txBox="1"/>
          <p:nvPr/>
        </p:nvSpPr>
        <p:spPr>
          <a:xfrm>
            <a:off x="10469880" y="457200"/>
            <a:ext cx="114300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☐ 完了</a:t>
            </a:r>
            <a:endParaRPr lang="en-US" sz="1400" dirty="0"/>
          </a:p>
        </p:txBody>
      </p:sp>
      <p:sp>
        <p:nvSpPr>
          <p:cNvPr id="4" name="step-1-num"/>
          <p:cNvSpPr txBox="1"/>
          <p:nvPr/>
        </p:nvSpPr>
        <p:spPr>
          <a:xfrm>
            <a:off x="548640" y="146304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-1-text"/>
          <p:cNvSpPr txBox="1"/>
          <p:nvPr/>
        </p:nvSpPr>
        <p:spPr>
          <a:xfrm>
            <a:off x="1188720" y="135331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パソコンのブラウザで「entry.line.biz」を開く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（「LINE公式アカウント 開設」で検索してもOK）</a:t>
            </a:r>
            <a:endParaRPr lang="en-US" sz="1600" dirty="0"/>
          </a:p>
        </p:txBody>
      </p:sp>
      <p:sp>
        <p:nvSpPr>
          <p:cNvPr id="6" name="step-2-num"/>
          <p:cNvSpPr txBox="1"/>
          <p:nvPr/>
        </p:nvSpPr>
        <p:spPr>
          <a:xfrm>
            <a:off x="548640" y="233172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7" name="step-2-text"/>
          <p:cNvSpPr txBox="1"/>
          <p:nvPr/>
        </p:nvSpPr>
        <p:spPr>
          <a:xfrm>
            <a:off x="1188720" y="222199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「LINE公式アカウントの開設（無料）」をクリック</a:t>
            </a:r>
            <a:endParaRPr lang="en-US" sz="1600" dirty="0"/>
          </a:p>
        </p:txBody>
      </p:sp>
      <p:sp>
        <p:nvSpPr>
          <p:cNvPr id="8" name="point-box"/>
          <p:cNvSpPr/>
          <p:nvPr/>
        </p:nvSpPr>
        <p:spPr>
          <a:xfrm>
            <a:off x="548640" y="3429000"/>
            <a:ext cx="539496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pic>
        <p:nvPicPr>
          <p:cNvPr id="9" name="poin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703320"/>
            <a:ext cx="384048" cy="384048"/>
          </a:xfrm>
          <a:prstGeom prst="rect">
            <a:avLst/>
          </a:prstGeom>
        </p:spPr>
      </p:pic>
      <p:sp>
        <p:nvSpPr>
          <p:cNvPr id="10" name="point-text"/>
          <p:cNvSpPr txBox="1"/>
          <p:nvPr/>
        </p:nvSpPr>
        <p:spPr>
          <a:xfrm>
            <a:off x="1417320" y="35661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ポイント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開設・月額基本料は無料のプランから始められます。</a:t>
            </a:r>
            <a:endParaRPr lang="en-US" sz="1400" dirty="0"/>
          </a:p>
        </p:txBody>
      </p:sp>
      <p:sp>
        <p:nvSpPr>
          <p:cNvPr id="11" name="screen-frame"/>
          <p:cNvSpPr/>
          <p:nvPr/>
        </p:nvSpPr>
        <p:spPr>
          <a:xfrm>
            <a:off x="6400800" y="1325880"/>
            <a:ext cx="521208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creen-url-bar"/>
          <p:cNvSpPr/>
          <p:nvPr/>
        </p:nvSpPr>
        <p:spPr>
          <a:xfrm>
            <a:off x="6583680" y="1490472"/>
            <a:ext cx="484632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3" name="screen-url"/>
          <p:cNvSpPr txBox="1"/>
          <p:nvPr/>
        </p:nvSpPr>
        <p:spPr>
          <a:xfrm>
            <a:off x="6766560" y="14904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https://entry.line.biz/</a:t>
            </a:r>
            <a:endParaRPr lang="en-US" sz="1200" dirty="0"/>
          </a:p>
        </p:txBody>
      </p:sp>
      <p:sp>
        <p:nvSpPr>
          <p:cNvPr id="14" name="screen-note"/>
          <p:cNvSpPr txBox="1"/>
          <p:nvPr/>
        </p:nvSpPr>
        <p:spPr>
          <a:xfrm>
            <a:off x="6400800" y="57607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※画面はイメージです。実際の表示や文言は変わる場合があります</a:t>
            </a:r>
            <a:endParaRPr lang="en-US" sz="1000" dirty="0"/>
          </a:p>
        </p:txBody>
      </p:sp>
      <p:sp>
        <p:nvSpPr>
          <p:cNvPr id="15" name="mock-heading"/>
          <p:cNvSpPr txBox="1"/>
          <p:nvPr/>
        </p:nvSpPr>
        <p:spPr>
          <a:xfrm>
            <a:off x="6766560" y="22402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LINE公式アカウント</a:t>
            </a:r>
            <a:endParaRPr lang="en-US" sz="2200" dirty="0"/>
          </a:p>
        </p:txBody>
      </p:sp>
      <p:sp>
        <p:nvSpPr>
          <p:cNvPr id="16" name="mock-sub"/>
          <p:cNvSpPr txBox="1"/>
          <p:nvPr/>
        </p:nvSpPr>
        <p:spPr>
          <a:xfrm>
            <a:off x="6766560" y="2834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お店や企業のアカウントを作って、友だちに情報を届けよう</a:t>
            </a:r>
            <a:endParaRPr lang="en-US" sz="1300" dirty="0"/>
          </a:p>
        </p:txBody>
      </p:sp>
      <p:sp>
        <p:nvSpPr>
          <p:cNvPr id="17" name="mock-button"/>
          <p:cNvSpPr txBox="1"/>
          <p:nvPr/>
        </p:nvSpPr>
        <p:spPr>
          <a:xfrm>
            <a:off x="7040880" y="3794760"/>
            <a:ext cx="3931920" cy="594360"/>
          </a:xfrm>
          <a:prstGeom prst="roundRect">
            <a:avLst>
              <a:gd name="adj" fmla="val 12308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LINE公式アカウントの開設（無料）</a:t>
            </a:r>
            <a:endParaRPr lang="en-US" sz="1400" dirty="0"/>
          </a:p>
        </p:txBody>
      </p:sp>
      <p:sp>
        <p:nvSpPr>
          <p:cNvPr id="18" name="mock-highlight"/>
          <p:cNvSpPr/>
          <p:nvPr/>
        </p:nvSpPr>
        <p:spPr>
          <a:xfrm>
            <a:off x="6967728" y="3721608"/>
            <a:ext cx="4078224" cy="740664"/>
          </a:xfrm>
          <a:prstGeom prst="roundRect">
            <a:avLst>
              <a:gd name="adj" fmla="val 14815"/>
            </a:avLst>
          </a:prstGeom>
          <a:ln w="38100">
            <a:solidFill>
              <a:schemeClr val="accent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498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STEP 2　</a:t>
            </a:r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メールアドレスで登録する</a:t>
            </a:r>
            <a:endParaRPr lang="en-US" sz="2800" dirty="0"/>
          </a:p>
        </p:txBody>
      </p:sp>
      <p:sp>
        <p:nvSpPr>
          <p:cNvPr id="3" name="check"/>
          <p:cNvSpPr txBox="1"/>
          <p:nvPr/>
        </p:nvSpPr>
        <p:spPr>
          <a:xfrm>
            <a:off x="10469880" y="457200"/>
            <a:ext cx="114300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☐ 完了</a:t>
            </a:r>
            <a:endParaRPr lang="en-US" sz="1400" dirty="0"/>
          </a:p>
        </p:txBody>
      </p:sp>
      <p:sp>
        <p:nvSpPr>
          <p:cNvPr id="4" name="step-1-num"/>
          <p:cNvSpPr txBox="1"/>
          <p:nvPr/>
        </p:nvSpPr>
        <p:spPr>
          <a:xfrm>
            <a:off x="548640" y="146304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-1-text"/>
          <p:cNvSpPr txBox="1"/>
          <p:nvPr/>
        </p:nvSpPr>
        <p:spPr>
          <a:xfrm>
            <a:off x="1188720" y="135331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「メールアドレスで登録」を選ぶ</a:t>
            </a:r>
            <a:endParaRPr lang="en-US" sz="1600" dirty="0"/>
          </a:p>
        </p:txBody>
      </p:sp>
      <p:sp>
        <p:nvSpPr>
          <p:cNvPr id="6" name="step-2-num"/>
          <p:cNvSpPr txBox="1"/>
          <p:nvPr/>
        </p:nvSpPr>
        <p:spPr>
          <a:xfrm>
            <a:off x="548640" y="233172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7" name="step-2-text"/>
          <p:cNvSpPr txBox="1"/>
          <p:nvPr/>
        </p:nvSpPr>
        <p:spPr>
          <a:xfrm>
            <a:off x="1188720" y="222199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会社の共有メールアドレスを入力</a:t>
            </a:r>
            <a:endParaRPr lang="en-US" sz="1600" dirty="0"/>
          </a:p>
        </p:txBody>
      </p:sp>
      <p:sp>
        <p:nvSpPr>
          <p:cNvPr id="8" name="step-3-num"/>
          <p:cNvSpPr txBox="1"/>
          <p:nvPr/>
        </p:nvSpPr>
        <p:spPr>
          <a:xfrm>
            <a:off x="548640" y="320040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9" name="step-3-text"/>
          <p:cNvSpPr txBox="1"/>
          <p:nvPr/>
        </p:nvSpPr>
        <p:spPr>
          <a:xfrm>
            <a:off x="1188720" y="309067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「登録用のリンクを送信」をクリック</a:t>
            </a:r>
            <a:endParaRPr lang="en-US" sz="1600" dirty="0"/>
          </a:p>
        </p:txBody>
      </p:sp>
      <p:sp>
        <p:nvSpPr>
          <p:cNvPr id="10" name="point-box"/>
          <p:cNvSpPr/>
          <p:nvPr/>
        </p:nvSpPr>
        <p:spPr>
          <a:xfrm>
            <a:off x="548640" y="4206240"/>
            <a:ext cx="53949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pic>
        <p:nvPicPr>
          <p:cNvPr id="11" name="poin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480560"/>
            <a:ext cx="384048" cy="384048"/>
          </a:xfrm>
          <a:prstGeom prst="rect">
            <a:avLst/>
          </a:prstGeom>
        </p:spPr>
      </p:pic>
      <p:sp>
        <p:nvSpPr>
          <p:cNvPr id="12" name="point-text"/>
          <p:cNvSpPr txBox="1"/>
          <p:nvPr/>
        </p:nvSpPr>
        <p:spPr>
          <a:xfrm>
            <a:off x="1417320" y="434340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ポイント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「LINEアカウントで登録」は選ばないでください。会社のメールで作ると、担当者が替わっても引き継げます。</a:t>
            </a:r>
            <a:endParaRPr lang="en-US" sz="1400" dirty="0"/>
          </a:p>
        </p:txBody>
      </p:sp>
      <p:sp>
        <p:nvSpPr>
          <p:cNvPr id="13" name="screen-frame"/>
          <p:cNvSpPr/>
          <p:nvPr/>
        </p:nvSpPr>
        <p:spPr>
          <a:xfrm>
            <a:off x="6400800" y="1325880"/>
            <a:ext cx="521208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creen-url-bar"/>
          <p:cNvSpPr/>
          <p:nvPr/>
        </p:nvSpPr>
        <p:spPr>
          <a:xfrm>
            <a:off x="6583680" y="1490472"/>
            <a:ext cx="484632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5" name="screen-url"/>
          <p:cNvSpPr txBox="1"/>
          <p:nvPr/>
        </p:nvSpPr>
        <p:spPr>
          <a:xfrm>
            <a:off x="6766560" y="14904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LINEビジネスID</a:t>
            </a:r>
            <a:endParaRPr lang="en-US" sz="1200" dirty="0"/>
          </a:p>
        </p:txBody>
      </p:sp>
      <p:sp>
        <p:nvSpPr>
          <p:cNvPr id="16" name="screen-note"/>
          <p:cNvSpPr txBox="1"/>
          <p:nvPr/>
        </p:nvSpPr>
        <p:spPr>
          <a:xfrm>
            <a:off x="6400800" y="57607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※画面はイメージです。実際の表示や文言は変わる場合があります</a:t>
            </a:r>
            <a:endParaRPr lang="en-US" sz="1000" dirty="0"/>
          </a:p>
        </p:txBody>
      </p:sp>
      <p:sp>
        <p:nvSpPr>
          <p:cNvPr id="17" name="mock-heading"/>
          <p:cNvSpPr txBox="1"/>
          <p:nvPr/>
        </p:nvSpPr>
        <p:spPr>
          <a:xfrm>
            <a:off x="6766560" y="2148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LINEビジネスIDを作成</a:t>
            </a:r>
            <a:endParaRPr lang="en-US" sz="1800" dirty="0"/>
          </a:p>
        </p:txBody>
      </p:sp>
      <p:sp>
        <p:nvSpPr>
          <p:cNvPr id="18" name="mock-button-line"/>
          <p:cNvSpPr txBox="1"/>
          <p:nvPr/>
        </p:nvSpPr>
        <p:spPr>
          <a:xfrm>
            <a:off x="6766560" y="2788920"/>
            <a:ext cx="448056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LINEアカウントで登録</a:t>
            </a:r>
            <a:endParaRPr lang="en-US" sz="1400" dirty="0"/>
          </a:p>
        </p:txBody>
      </p:sp>
      <p:sp>
        <p:nvSpPr>
          <p:cNvPr id="19" name="mock-button"/>
          <p:cNvSpPr txBox="1"/>
          <p:nvPr/>
        </p:nvSpPr>
        <p:spPr>
          <a:xfrm>
            <a:off x="6766560" y="3474720"/>
            <a:ext cx="4480560" cy="502920"/>
          </a:xfrm>
          <a:prstGeom prst="roundRect">
            <a:avLst>
              <a:gd name="adj" fmla="val 1454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メールアドレスで登録</a:t>
            </a:r>
            <a:endParaRPr lang="en-US" sz="1400" dirty="0"/>
          </a:p>
        </p:txBody>
      </p:sp>
      <p:sp>
        <p:nvSpPr>
          <p:cNvPr id="20" name="mock-highlight"/>
          <p:cNvSpPr/>
          <p:nvPr/>
        </p:nvSpPr>
        <p:spPr>
          <a:xfrm>
            <a:off x="6693408" y="3401568"/>
            <a:ext cx="4626864" cy="649224"/>
          </a:xfrm>
          <a:prstGeom prst="roundRect">
            <a:avLst>
              <a:gd name="adj" fmla="val 16901"/>
            </a:avLst>
          </a:prstGeom>
          <a:ln w="38100">
            <a:solidFill>
              <a:schemeClr val="accent1"/>
            </a:solidFill>
            <a:prstDash val="solid"/>
          </a:ln>
        </p:spPr>
      </p:sp>
      <p:sp>
        <p:nvSpPr>
          <p:cNvPr id="21" name="mock-label"/>
          <p:cNvSpPr txBox="1"/>
          <p:nvPr/>
        </p:nvSpPr>
        <p:spPr>
          <a:xfrm>
            <a:off x="6766560" y="42062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メールアドレス</a:t>
            </a:r>
            <a:endParaRPr lang="en-US" sz="1200" dirty="0"/>
          </a:p>
        </p:txBody>
      </p:sp>
      <p:sp>
        <p:nvSpPr>
          <p:cNvPr id="22" name="mock-field"/>
          <p:cNvSpPr txBox="1"/>
          <p:nvPr/>
        </p:nvSpPr>
        <p:spPr>
          <a:xfrm>
            <a:off x="6766560" y="4498848"/>
            <a:ext cx="4480560" cy="4114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info@house-work.jp（例）</a:t>
            </a:r>
            <a:endParaRPr lang="en-US" sz="1300" dirty="0"/>
          </a:p>
        </p:txBody>
      </p:sp>
      <p:sp>
        <p:nvSpPr>
          <p:cNvPr id="23" name="mock-button-send"/>
          <p:cNvSpPr txBox="1"/>
          <p:nvPr/>
        </p:nvSpPr>
        <p:spPr>
          <a:xfrm>
            <a:off x="7498080" y="5074920"/>
            <a:ext cx="3017520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登録用のリンクを送信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498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STEP 3　</a:t>
            </a:r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ビジネスIDを作成する</a:t>
            </a:r>
            <a:endParaRPr lang="en-US" sz="2800" dirty="0"/>
          </a:p>
        </p:txBody>
      </p:sp>
      <p:sp>
        <p:nvSpPr>
          <p:cNvPr id="3" name="check"/>
          <p:cNvSpPr txBox="1"/>
          <p:nvPr/>
        </p:nvSpPr>
        <p:spPr>
          <a:xfrm>
            <a:off x="10469880" y="457200"/>
            <a:ext cx="114300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☐ 完了</a:t>
            </a:r>
            <a:endParaRPr lang="en-US" sz="1400" dirty="0"/>
          </a:p>
        </p:txBody>
      </p:sp>
      <p:sp>
        <p:nvSpPr>
          <p:cNvPr id="4" name="step-1-num"/>
          <p:cNvSpPr txBox="1"/>
          <p:nvPr/>
        </p:nvSpPr>
        <p:spPr>
          <a:xfrm>
            <a:off x="548640" y="146304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-1-text"/>
          <p:cNvSpPr txBox="1"/>
          <p:nvPr/>
        </p:nvSpPr>
        <p:spPr>
          <a:xfrm>
            <a:off x="1188720" y="135331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届いたメールの「登録画面に進む」をクリック</a:t>
            </a:r>
            <a:endParaRPr lang="en-US" sz="1600" dirty="0"/>
          </a:p>
        </p:txBody>
      </p:sp>
      <p:sp>
        <p:nvSpPr>
          <p:cNvPr id="6" name="step-2-num"/>
          <p:cNvSpPr txBox="1"/>
          <p:nvPr/>
        </p:nvSpPr>
        <p:spPr>
          <a:xfrm>
            <a:off x="548640" y="224028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7" name="step-2-text"/>
          <p:cNvSpPr txBox="1"/>
          <p:nvPr/>
        </p:nvSpPr>
        <p:spPr>
          <a:xfrm>
            <a:off x="1188720" y="213055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名前とパスワードを入力</a:t>
            </a:r>
            <a:endParaRPr lang="en-US" sz="1600" dirty="0"/>
          </a:p>
        </p:txBody>
      </p:sp>
      <p:sp>
        <p:nvSpPr>
          <p:cNvPr id="8" name="step-3-num"/>
          <p:cNvSpPr txBox="1"/>
          <p:nvPr/>
        </p:nvSpPr>
        <p:spPr>
          <a:xfrm>
            <a:off x="548640" y="301752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9" name="step-3-text"/>
          <p:cNvSpPr txBox="1"/>
          <p:nvPr/>
        </p:nvSpPr>
        <p:spPr>
          <a:xfrm>
            <a:off x="1188720" y="290779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「登録」→ 内容を確認して「登録」</a:t>
            </a:r>
            <a:endParaRPr lang="en-US" sz="1600" dirty="0"/>
          </a:p>
        </p:txBody>
      </p:sp>
      <p:sp>
        <p:nvSpPr>
          <p:cNvPr id="10" name="step-4-num"/>
          <p:cNvSpPr txBox="1"/>
          <p:nvPr/>
        </p:nvSpPr>
        <p:spPr>
          <a:xfrm>
            <a:off x="548640" y="379476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1" name="step-4-text"/>
          <p:cNvSpPr txBox="1"/>
          <p:nvPr/>
        </p:nvSpPr>
        <p:spPr>
          <a:xfrm>
            <a:off x="1188720" y="368503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「サービスに移動」をクリック</a:t>
            </a:r>
            <a:endParaRPr lang="en-US" sz="1600" dirty="0"/>
          </a:p>
        </p:txBody>
      </p:sp>
      <p:sp>
        <p:nvSpPr>
          <p:cNvPr id="12" name="point-box"/>
          <p:cNvSpPr/>
          <p:nvPr/>
        </p:nvSpPr>
        <p:spPr>
          <a:xfrm>
            <a:off x="548640" y="4663440"/>
            <a:ext cx="539496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pic>
        <p:nvPicPr>
          <p:cNvPr id="13" name="poin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937760"/>
            <a:ext cx="384048" cy="384048"/>
          </a:xfrm>
          <a:prstGeom prst="rect">
            <a:avLst/>
          </a:prstGeom>
        </p:spPr>
      </p:pic>
      <p:sp>
        <p:nvSpPr>
          <p:cNvPr id="14" name="point-text"/>
          <p:cNvSpPr txBox="1"/>
          <p:nvPr/>
        </p:nvSpPr>
        <p:spPr>
          <a:xfrm>
            <a:off x="1417320" y="48006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ポイント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メールが届かないときは、迷惑メールフォルダを確認してください。</a:t>
            </a:r>
            <a:endParaRPr lang="en-US" sz="1400" dirty="0"/>
          </a:p>
        </p:txBody>
      </p:sp>
      <p:sp>
        <p:nvSpPr>
          <p:cNvPr id="15" name="screen-frame"/>
          <p:cNvSpPr/>
          <p:nvPr/>
        </p:nvSpPr>
        <p:spPr>
          <a:xfrm>
            <a:off x="6400800" y="1325880"/>
            <a:ext cx="521208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creen-url-bar"/>
          <p:cNvSpPr/>
          <p:nvPr/>
        </p:nvSpPr>
        <p:spPr>
          <a:xfrm>
            <a:off x="6583680" y="1490472"/>
            <a:ext cx="484632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7" name="screen-url"/>
          <p:cNvSpPr txBox="1"/>
          <p:nvPr/>
        </p:nvSpPr>
        <p:spPr>
          <a:xfrm>
            <a:off x="6766560" y="14904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LINEビジネスID｜登録</a:t>
            </a:r>
            <a:endParaRPr lang="en-US" sz="1200" dirty="0"/>
          </a:p>
        </p:txBody>
      </p:sp>
      <p:sp>
        <p:nvSpPr>
          <p:cNvPr id="18" name="screen-note"/>
          <p:cNvSpPr txBox="1"/>
          <p:nvPr/>
        </p:nvSpPr>
        <p:spPr>
          <a:xfrm>
            <a:off x="6400800" y="57607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※画面はイメージです。実際の表示や文言は変わる場合があります</a:t>
            </a:r>
            <a:endParaRPr lang="en-US" sz="1000" dirty="0"/>
          </a:p>
        </p:txBody>
      </p:sp>
      <p:sp>
        <p:nvSpPr>
          <p:cNvPr id="19" name="mock-label"/>
          <p:cNvSpPr txBox="1"/>
          <p:nvPr/>
        </p:nvSpPr>
        <p:spPr>
          <a:xfrm>
            <a:off x="6766560" y="21031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名前</a:t>
            </a:r>
            <a:endParaRPr lang="en-US" sz="1200" dirty="0"/>
          </a:p>
        </p:txBody>
      </p:sp>
      <p:sp>
        <p:nvSpPr>
          <p:cNvPr id="20" name="mock-field"/>
          <p:cNvSpPr txBox="1"/>
          <p:nvPr/>
        </p:nvSpPr>
        <p:spPr>
          <a:xfrm>
            <a:off x="6766560" y="2395728"/>
            <a:ext cx="4480560" cy="4114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株式会社ハウスワーク</a:t>
            </a:r>
            <a:endParaRPr lang="en-US" sz="1300" dirty="0"/>
          </a:p>
        </p:txBody>
      </p:sp>
      <p:sp>
        <p:nvSpPr>
          <p:cNvPr id="21" name="mock-label"/>
          <p:cNvSpPr txBox="1"/>
          <p:nvPr/>
        </p:nvSpPr>
        <p:spPr>
          <a:xfrm>
            <a:off x="6766560" y="29260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パスワード</a:t>
            </a:r>
            <a:endParaRPr lang="en-US" sz="1200" dirty="0"/>
          </a:p>
        </p:txBody>
      </p:sp>
      <p:sp>
        <p:nvSpPr>
          <p:cNvPr id="22" name="mock-field"/>
          <p:cNvSpPr txBox="1"/>
          <p:nvPr/>
        </p:nvSpPr>
        <p:spPr>
          <a:xfrm>
            <a:off x="6766560" y="3218688"/>
            <a:ext cx="4480560" cy="4114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●●●●●●●●</a:t>
            </a:r>
            <a:endParaRPr lang="en-US" sz="1300" dirty="0"/>
          </a:p>
        </p:txBody>
      </p:sp>
      <p:sp>
        <p:nvSpPr>
          <p:cNvPr id="23" name="mock-label"/>
          <p:cNvSpPr txBox="1"/>
          <p:nvPr/>
        </p:nvSpPr>
        <p:spPr>
          <a:xfrm>
            <a:off x="6766560" y="37490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パスワード（確認用）</a:t>
            </a:r>
            <a:endParaRPr lang="en-US" sz="1200" dirty="0"/>
          </a:p>
        </p:txBody>
      </p:sp>
      <p:sp>
        <p:nvSpPr>
          <p:cNvPr id="24" name="mock-field"/>
          <p:cNvSpPr txBox="1"/>
          <p:nvPr/>
        </p:nvSpPr>
        <p:spPr>
          <a:xfrm>
            <a:off x="6766560" y="4041648"/>
            <a:ext cx="4480560" cy="4114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●●●●●●●●</a:t>
            </a:r>
            <a:endParaRPr lang="en-US" sz="1300" dirty="0"/>
          </a:p>
        </p:txBody>
      </p:sp>
      <p:sp>
        <p:nvSpPr>
          <p:cNvPr id="25" name="mock-button"/>
          <p:cNvSpPr txBox="1"/>
          <p:nvPr/>
        </p:nvSpPr>
        <p:spPr>
          <a:xfrm>
            <a:off x="7863840" y="4754880"/>
            <a:ext cx="2286000" cy="502920"/>
          </a:xfrm>
          <a:prstGeom prst="roundRect">
            <a:avLst>
              <a:gd name="adj" fmla="val 1454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登録</a:t>
            </a:r>
            <a:endParaRPr lang="en-US" sz="1400" dirty="0"/>
          </a:p>
        </p:txBody>
      </p:sp>
      <p:sp>
        <p:nvSpPr>
          <p:cNvPr id="26" name="mock-highlight"/>
          <p:cNvSpPr/>
          <p:nvPr/>
        </p:nvSpPr>
        <p:spPr>
          <a:xfrm>
            <a:off x="7790688" y="4681728"/>
            <a:ext cx="2432304" cy="649224"/>
          </a:xfrm>
          <a:prstGeom prst="roundRect">
            <a:avLst>
              <a:gd name="adj" fmla="val 16901"/>
            </a:avLst>
          </a:prstGeom>
          <a:ln w="38100">
            <a:solidFill>
              <a:schemeClr val="accent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498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STEP 4　</a:t>
            </a:r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アカウント情報を入力する</a:t>
            </a:r>
            <a:endParaRPr lang="en-US" sz="2800" dirty="0"/>
          </a:p>
        </p:txBody>
      </p:sp>
      <p:sp>
        <p:nvSpPr>
          <p:cNvPr id="3" name="check"/>
          <p:cNvSpPr txBox="1"/>
          <p:nvPr/>
        </p:nvSpPr>
        <p:spPr>
          <a:xfrm>
            <a:off x="10469880" y="457200"/>
            <a:ext cx="114300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☐ 完了</a:t>
            </a:r>
            <a:endParaRPr lang="en-US" sz="1400" dirty="0"/>
          </a:p>
        </p:txBody>
      </p:sp>
      <p:graphicFrame>
        <p:nvGraphicFramePr>
          <p:cNvPr id="8" name="accoun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4066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7548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項目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F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入力内容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F1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31F1C"/>
                          </a:solidFill>
                        </a:rPr>
                        <a:t>アカウント名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1F1C"/>
                          </a:solidFill>
                        </a:rPr>
                        <a:t>ハウスワーク｜小山市の注文住宅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31F1C"/>
                          </a:solidFill>
                        </a:rPr>
                        <a:t>メールアドレス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1F1C"/>
                          </a:solidFill>
                        </a:rPr>
                        <a:t>会社の共有メールアドレス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31F1C"/>
                          </a:solidFill>
                        </a:rPr>
                        <a:t>会社・事業者の所在国・地域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1F1C"/>
                          </a:solidFill>
                        </a:rPr>
                        <a:t>日本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31F1C"/>
                          </a:solidFill>
                        </a:rPr>
                        <a:t>会社・事業者名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1F1C"/>
                          </a:solidFill>
                        </a:rPr>
                        <a:t>株式会社ハウスワーク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31F1C"/>
                          </a:solidFill>
                        </a:rPr>
                        <a:t>業種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1F1C"/>
                          </a:solidFill>
                        </a:rPr>
                        <a:t>住宅・不動産 → 工務店・住宅メーカーに近い項目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31F1C"/>
                          </a:solidFill>
                        </a:rPr>
                        <a:t>運用目的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1F1C"/>
                          </a:solidFill>
                        </a:rPr>
                        <a:t>集客・販促、情報発信 など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31F1C"/>
                          </a:solidFill>
                        </a:rPr>
                        <a:t>主な使い方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1F1C"/>
                          </a:solidFill>
                        </a:rPr>
                        <a:t>メッセージ配信 など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D"/>
                    </a:solidFill>
                  </a:tcPr>
                </a:tc>
              </a:tr>
            </a:tbl>
          </a:graphicData>
        </a:graphic>
      </p:graphicFrame>
      <p:sp>
        <p:nvSpPr>
          <p:cNvPr id="5" name="point-box"/>
          <p:cNvSpPr/>
          <p:nvPr/>
        </p:nvSpPr>
        <p:spPr>
          <a:xfrm>
            <a:off x="8229600" y="1371600"/>
            <a:ext cx="33832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pic>
        <p:nvPicPr>
          <p:cNvPr id="6" name="poin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645920"/>
            <a:ext cx="384048" cy="384048"/>
          </a:xfrm>
          <a:prstGeom prst="rect">
            <a:avLst/>
          </a:prstGeom>
        </p:spPr>
      </p:pic>
      <p:sp>
        <p:nvSpPr>
          <p:cNvPr id="7" name="point-text"/>
          <p:cNvSpPr txBox="1"/>
          <p:nvPr/>
        </p:nvSpPr>
        <p:spPr>
          <a:xfrm>
            <a:off x="9098280" y="15087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ポイント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アカウント名は、友だちのトーク一覧に表示される名前です。</a:t>
            </a:r>
            <a:endParaRPr lang="en-US" sz="1400" dirty="0"/>
          </a:p>
        </p:txBody>
      </p:sp>
      <p:sp>
        <p:nvSpPr>
          <p:cNvPr id="8" name="name-ideas-box"/>
          <p:cNvSpPr/>
          <p:nvPr/>
        </p:nvSpPr>
        <p:spPr>
          <a:xfrm>
            <a:off x="8229600" y="3429000"/>
            <a:ext cx="338328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name-ideas"/>
          <p:cNvSpPr txBox="1"/>
          <p:nvPr/>
        </p:nvSpPr>
        <p:spPr>
          <a:xfrm>
            <a:off x="8412480" y="356616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アカウント名の候補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ハウスワーク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HOUSE WORK（ハウスワーク）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ハウスワーク｜注文住宅・古河展示場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498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STEP 5　</a:t>
            </a:r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確認して開設完了</a:t>
            </a:r>
            <a:endParaRPr lang="en-US" sz="2800" dirty="0"/>
          </a:p>
        </p:txBody>
      </p:sp>
      <p:sp>
        <p:nvSpPr>
          <p:cNvPr id="3" name="check"/>
          <p:cNvSpPr txBox="1"/>
          <p:nvPr/>
        </p:nvSpPr>
        <p:spPr>
          <a:xfrm>
            <a:off x="10469880" y="457200"/>
            <a:ext cx="114300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☐ 完了</a:t>
            </a:r>
            <a:endParaRPr lang="en-US" sz="1400" dirty="0"/>
          </a:p>
        </p:txBody>
      </p:sp>
      <p:sp>
        <p:nvSpPr>
          <p:cNvPr id="4" name="step-1-num"/>
          <p:cNvSpPr txBox="1"/>
          <p:nvPr/>
        </p:nvSpPr>
        <p:spPr>
          <a:xfrm>
            <a:off x="548640" y="146304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-1-text"/>
          <p:cNvSpPr txBox="1"/>
          <p:nvPr/>
        </p:nvSpPr>
        <p:spPr>
          <a:xfrm>
            <a:off x="1188720" y="135331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入力内容を確認して「完了」をクリック</a:t>
            </a:r>
            <a:endParaRPr lang="en-US" sz="1600" dirty="0"/>
          </a:p>
        </p:txBody>
      </p:sp>
      <p:sp>
        <p:nvSpPr>
          <p:cNvPr id="6" name="step-2-num"/>
          <p:cNvSpPr txBox="1"/>
          <p:nvPr/>
        </p:nvSpPr>
        <p:spPr>
          <a:xfrm>
            <a:off x="548640" y="233172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7" name="step-2-text"/>
          <p:cNvSpPr txBox="1"/>
          <p:nvPr/>
        </p:nvSpPr>
        <p:spPr>
          <a:xfrm>
            <a:off x="1188720" y="222199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「LINE Official Account Manager へ」をクリック</a:t>
            </a:r>
            <a:endParaRPr lang="en-US" sz="1600" dirty="0"/>
          </a:p>
        </p:txBody>
      </p:sp>
      <p:sp>
        <p:nvSpPr>
          <p:cNvPr id="8" name="step-3-num"/>
          <p:cNvSpPr txBox="1"/>
          <p:nvPr/>
        </p:nvSpPr>
        <p:spPr>
          <a:xfrm>
            <a:off x="548640" y="320040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9" name="step-3-text"/>
          <p:cNvSpPr txBox="1"/>
          <p:nvPr/>
        </p:nvSpPr>
        <p:spPr>
          <a:xfrm>
            <a:off x="1188720" y="309067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規約などの同意画面が出たら、内容を確認して同意</a:t>
            </a:r>
            <a:endParaRPr lang="en-US" sz="1600" dirty="0"/>
          </a:p>
        </p:txBody>
      </p:sp>
      <p:sp>
        <p:nvSpPr>
          <p:cNvPr id="10" name="point-box"/>
          <p:cNvSpPr/>
          <p:nvPr/>
        </p:nvSpPr>
        <p:spPr>
          <a:xfrm>
            <a:off x="548640" y="4206240"/>
            <a:ext cx="53949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pic>
        <p:nvPicPr>
          <p:cNvPr id="11" name="poin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480560"/>
            <a:ext cx="384048" cy="384048"/>
          </a:xfrm>
          <a:prstGeom prst="rect">
            <a:avLst/>
          </a:prstGeom>
        </p:spPr>
      </p:pic>
      <p:sp>
        <p:nvSpPr>
          <p:cNvPr id="12" name="point-text"/>
          <p:cNvSpPr txBox="1"/>
          <p:nvPr/>
        </p:nvSpPr>
        <p:spPr>
          <a:xfrm>
            <a:off x="1417320" y="434340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ポイント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管理画面（manager.line.biz）をブックマークしておくと、次回からすぐに開けます。</a:t>
            </a:r>
            <a:endParaRPr lang="en-US" sz="1400" dirty="0"/>
          </a:p>
        </p:txBody>
      </p:sp>
      <p:sp>
        <p:nvSpPr>
          <p:cNvPr id="13" name="screen-frame"/>
          <p:cNvSpPr/>
          <p:nvPr/>
        </p:nvSpPr>
        <p:spPr>
          <a:xfrm>
            <a:off x="6400800" y="1325880"/>
            <a:ext cx="521208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creen-url-bar"/>
          <p:cNvSpPr/>
          <p:nvPr/>
        </p:nvSpPr>
        <p:spPr>
          <a:xfrm>
            <a:off x="6583680" y="1490472"/>
            <a:ext cx="484632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5" name="screen-url"/>
          <p:cNvSpPr txBox="1"/>
          <p:nvPr/>
        </p:nvSpPr>
        <p:spPr>
          <a:xfrm>
            <a:off x="6766560" y="14904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LINE公式アカウント｜作成完了</a:t>
            </a:r>
            <a:endParaRPr lang="en-US" sz="1200" dirty="0"/>
          </a:p>
        </p:txBody>
      </p:sp>
      <p:sp>
        <p:nvSpPr>
          <p:cNvPr id="16" name="screen-note"/>
          <p:cNvSpPr txBox="1"/>
          <p:nvPr/>
        </p:nvSpPr>
        <p:spPr>
          <a:xfrm>
            <a:off x="6400800" y="57607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※画面はイメージです。実際の表示や文言は変わる場合があります</a:t>
            </a:r>
            <a:endParaRPr lang="en-US" sz="1000" dirty="0"/>
          </a:p>
        </p:txBody>
      </p:sp>
      <p:pic>
        <p:nvPicPr>
          <p:cNvPr id="17" name="mock-done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2331720"/>
            <a:ext cx="822960" cy="822960"/>
          </a:xfrm>
          <a:prstGeom prst="rect">
            <a:avLst/>
          </a:prstGeom>
        </p:spPr>
      </p:pic>
      <p:sp>
        <p:nvSpPr>
          <p:cNvPr id="18" name="mock-done-text"/>
          <p:cNvSpPr txBox="1"/>
          <p:nvPr/>
        </p:nvSpPr>
        <p:spPr>
          <a:xfrm>
            <a:off x="6766560" y="33375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LINE公式アカウントの作成が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完了しました</a:t>
            </a:r>
            <a:endParaRPr lang="en-US" sz="1700" dirty="0"/>
          </a:p>
        </p:txBody>
      </p:sp>
      <p:sp>
        <p:nvSpPr>
          <p:cNvPr id="19" name="mock-button"/>
          <p:cNvSpPr txBox="1"/>
          <p:nvPr/>
        </p:nvSpPr>
        <p:spPr>
          <a:xfrm>
            <a:off x="7040880" y="4572000"/>
            <a:ext cx="3931920" cy="54864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LINE Official Account Manager へ</a:t>
            </a:r>
            <a:endParaRPr lang="en-US" sz="1400" dirty="0"/>
          </a:p>
        </p:txBody>
      </p:sp>
      <p:sp>
        <p:nvSpPr>
          <p:cNvPr id="20" name="mock-highlight"/>
          <p:cNvSpPr/>
          <p:nvPr/>
        </p:nvSpPr>
        <p:spPr>
          <a:xfrm>
            <a:off x="6967728" y="4498848"/>
            <a:ext cx="4078224" cy="694944"/>
          </a:xfrm>
          <a:prstGeom prst="roundRect">
            <a:avLst>
              <a:gd name="adj" fmla="val 15789"/>
            </a:avLst>
          </a:prstGeom>
          <a:ln w="38100">
            <a:solidFill>
              <a:schemeClr val="accent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498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STEP 6　</a:t>
            </a:r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制作担当をメンバーに招待する</a:t>
            </a:r>
            <a:endParaRPr lang="en-US" sz="2800" dirty="0"/>
          </a:p>
        </p:txBody>
      </p:sp>
      <p:sp>
        <p:nvSpPr>
          <p:cNvPr id="3" name="check"/>
          <p:cNvSpPr txBox="1"/>
          <p:nvPr/>
        </p:nvSpPr>
        <p:spPr>
          <a:xfrm>
            <a:off x="10469880" y="457200"/>
            <a:ext cx="114300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☐ 完了</a:t>
            </a:r>
            <a:endParaRPr lang="en-US" sz="1400" dirty="0"/>
          </a:p>
        </p:txBody>
      </p:sp>
      <p:sp>
        <p:nvSpPr>
          <p:cNvPr id="4" name="step-1-num"/>
          <p:cNvSpPr txBox="1"/>
          <p:nvPr/>
        </p:nvSpPr>
        <p:spPr>
          <a:xfrm>
            <a:off x="548640" y="146304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-1-text"/>
          <p:cNvSpPr txBox="1"/>
          <p:nvPr/>
        </p:nvSpPr>
        <p:spPr>
          <a:xfrm>
            <a:off x="1188720" y="135331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管理画面の右上「設定」をクリック</a:t>
            </a:r>
            <a:endParaRPr lang="en-US" sz="1600" dirty="0"/>
          </a:p>
        </p:txBody>
      </p:sp>
      <p:sp>
        <p:nvSpPr>
          <p:cNvPr id="6" name="step-2-num"/>
          <p:cNvSpPr txBox="1"/>
          <p:nvPr/>
        </p:nvSpPr>
        <p:spPr>
          <a:xfrm>
            <a:off x="548640" y="224028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7" name="step-2-text"/>
          <p:cNvSpPr txBox="1"/>
          <p:nvPr/>
        </p:nvSpPr>
        <p:spPr>
          <a:xfrm>
            <a:off x="1188720" y="213055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左のメニューから「権限」を選ぶ</a:t>
            </a:r>
            <a:endParaRPr lang="en-US" sz="1600" dirty="0"/>
          </a:p>
        </p:txBody>
      </p:sp>
      <p:sp>
        <p:nvSpPr>
          <p:cNvPr id="8" name="step-3-num"/>
          <p:cNvSpPr txBox="1"/>
          <p:nvPr/>
        </p:nvSpPr>
        <p:spPr>
          <a:xfrm>
            <a:off x="548640" y="301752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9" name="step-3-text"/>
          <p:cNvSpPr txBox="1"/>
          <p:nvPr/>
        </p:nvSpPr>
        <p:spPr>
          <a:xfrm>
            <a:off x="1188720" y="290779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「メンバーを追加」→ 権限を「管理者」にして「URLを発行」</a:t>
            </a:r>
            <a:endParaRPr lang="en-US" sz="1600" dirty="0"/>
          </a:p>
        </p:txBody>
      </p:sp>
      <p:sp>
        <p:nvSpPr>
          <p:cNvPr id="10" name="step-4-num"/>
          <p:cNvSpPr txBox="1"/>
          <p:nvPr/>
        </p:nvSpPr>
        <p:spPr>
          <a:xfrm>
            <a:off x="548640" y="379476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1" name="step-4-text"/>
          <p:cNvSpPr txBox="1"/>
          <p:nvPr/>
        </p:nvSpPr>
        <p:spPr>
          <a:xfrm>
            <a:off x="1188720" y="368503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発行されたURLを制作担当へ送る（有効期限は24時間）</a:t>
            </a:r>
            <a:endParaRPr lang="en-US" sz="1600" dirty="0"/>
          </a:p>
        </p:txBody>
      </p:sp>
      <p:sp>
        <p:nvSpPr>
          <p:cNvPr id="12" name="point-box"/>
          <p:cNvSpPr/>
          <p:nvPr/>
        </p:nvSpPr>
        <p:spPr>
          <a:xfrm>
            <a:off x="548640" y="4663440"/>
            <a:ext cx="539496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pic>
        <p:nvPicPr>
          <p:cNvPr id="13" name="poin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937760"/>
            <a:ext cx="384048" cy="384048"/>
          </a:xfrm>
          <a:prstGeom prst="rect">
            <a:avLst/>
          </a:prstGeom>
        </p:spPr>
      </p:pic>
      <p:sp>
        <p:nvSpPr>
          <p:cNvPr id="14" name="point-text"/>
          <p:cNvSpPr txBox="1"/>
          <p:nvPr/>
        </p:nvSpPr>
        <p:spPr>
          <a:xfrm>
            <a:off x="1417320" y="48006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ポイント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パスワードを共有せずに、安全に一緒に運用できます。</a:t>
            </a:r>
            <a:endParaRPr lang="en-US" sz="1400" dirty="0"/>
          </a:p>
        </p:txBody>
      </p:sp>
      <p:sp>
        <p:nvSpPr>
          <p:cNvPr id="15" name="screen-frame"/>
          <p:cNvSpPr/>
          <p:nvPr/>
        </p:nvSpPr>
        <p:spPr>
          <a:xfrm>
            <a:off x="6400800" y="1325880"/>
            <a:ext cx="5212080" cy="4343400"/>
          </a:xfrm>
          <a:prstGeom prst="roundRect">
            <a:avLst>
              <a:gd name="adj" fmla="val 2526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creen-url-bar"/>
          <p:cNvSpPr/>
          <p:nvPr/>
        </p:nvSpPr>
        <p:spPr>
          <a:xfrm>
            <a:off x="6583680" y="1490472"/>
            <a:ext cx="484632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7" name="screen-url"/>
          <p:cNvSpPr txBox="1"/>
          <p:nvPr/>
        </p:nvSpPr>
        <p:spPr>
          <a:xfrm>
            <a:off x="6766560" y="14904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manager.line.biz｜設定</a:t>
            </a:r>
            <a:endParaRPr lang="en-US" sz="1200" dirty="0"/>
          </a:p>
        </p:txBody>
      </p:sp>
      <p:sp>
        <p:nvSpPr>
          <p:cNvPr id="18" name="screen-note"/>
          <p:cNvSpPr txBox="1"/>
          <p:nvPr/>
        </p:nvSpPr>
        <p:spPr>
          <a:xfrm>
            <a:off x="6400800" y="57607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※画面はイメージです。実際の表示や文言は変わる場合があります</a:t>
            </a:r>
            <a:endParaRPr lang="en-US" sz="1000" dirty="0"/>
          </a:p>
        </p:txBody>
      </p:sp>
      <p:sp>
        <p:nvSpPr>
          <p:cNvPr id="19" name="mock-menu-1"/>
          <p:cNvSpPr txBox="1"/>
          <p:nvPr/>
        </p:nvSpPr>
        <p:spPr>
          <a:xfrm>
            <a:off x="6766560" y="2148840"/>
            <a:ext cx="1737360" cy="4114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アカウント設定</a:t>
            </a:r>
            <a:endParaRPr lang="en-US" sz="1300" dirty="0"/>
          </a:p>
        </p:txBody>
      </p:sp>
      <p:sp>
        <p:nvSpPr>
          <p:cNvPr id="20" name="mock-menu-2"/>
          <p:cNvSpPr txBox="1"/>
          <p:nvPr/>
        </p:nvSpPr>
        <p:spPr>
          <a:xfrm>
            <a:off x="6766560" y="2651760"/>
            <a:ext cx="1737360" cy="4114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権限</a:t>
            </a:r>
            <a:endParaRPr lang="en-US" sz="1300" dirty="0"/>
          </a:p>
        </p:txBody>
      </p:sp>
      <p:sp>
        <p:nvSpPr>
          <p:cNvPr id="21" name="mock-menu-3"/>
          <p:cNvSpPr txBox="1"/>
          <p:nvPr/>
        </p:nvSpPr>
        <p:spPr>
          <a:xfrm>
            <a:off x="6766560" y="3154680"/>
            <a:ext cx="1737360" cy="4114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応答設定</a:t>
            </a:r>
            <a:endParaRPr lang="en-US" sz="1300" dirty="0"/>
          </a:p>
        </p:txBody>
      </p:sp>
      <p:sp>
        <p:nvSpPr>
          <p:cNvPr id="22" name="mock-menu-4"/>
          <p:cNvSpPr txBox="1"/>
          <p:nvPr/>
        </p:nvSpPr>
        <p:spPr>
          <a:xfrm>
            <a:off x="6766560" y="3657600"/>
            <a:ext cx="1737360" cy="4114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Messaging API</a:t>
            </a:r>
            <a:endParaRPr lang="en-US" sz="1300" dirty="0"/>
          </a:p>
        </p:txBody>
      </p:sp>
      <p:sp>
        <p:nvSpPr>
          <p:cNvPr id="23" name="mock-highlight"/>
          <p:cNvSpPr/>
          <p:nvPr/>
        </p:nvSpPr>
        <p:spPr>
          <a:xfrm>
            <a:off x="6693408" y="2578608"/>
            <a:ext cx="1883664" cy="557784"/>
          </a:xfrm>
          <a:prstGeom prst="roundRect">
            <a:avLst>
              <a:gd name="adj" fmla="val 19672"/>
            </a:avLst>
          </a:prstGeom>
          <a:ln w="38100">
            <a:solidFill>
              <a:schemeClr val="accent1"/>
            </a:solidFill>
            <a:prstDash val="solid"/>
          </a:ln>
        </p:spPr>
      </p:sp>
      <p:sp>
        <p:nvSpPr>
          <p:cNvPr id="24" name="mock-perm-heading"/>
          <p:cNvSpPr txBox="1"/>
          <p:nvPr/>
        </p:nvSpPr>
        <p:spPr>
          <a:xfrm>
            <a:off x="8778240" y="2148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権限</a:t>
            </a:r>
            <a:endParaRPr lang="en-US" sz="1700" dirty="0"/>
          </a:p>
        </p:txBody>
      </p:sp>
      <p:sp>
        <p:nvSpPr>
          <p:cNvPr id="25" name="mock-button-add"/>
          <p:cNvSpPr txBox="1"/>
          <p:nvPr/>
        </p:nvSpPr>
        <p:spPr>
          <a:xfrm>
            <a:off x="8778240" y="2743200"/>
            <a:ext cx="2468880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メンバーを追加</a:t>
            </a:r>
            <a:endParaRPr lang="en-US" sz="1400" dirty="0"/>
          </a:p>
        </p:txBody>
      </p:sp>
      <p:sp>
        <p:nvSpPr>
          <p:cNvPr id="26" name="mock-role"/>
          <p:cNvSpPr txBox="1"/>
          <p:nvPr/>
        </p:nvSpPr>
        <p:spPr>
          <a:xfrm>
            <a:off x="8778240" y="3429000"/>
            <a:ext cx="2468880" cy="4114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権限：管理者</a:t>
            </a:r>
            <a:endParaRPr lang="en-US" sz="1300" dirty="0"/>
          </a:p>
        </p:txBody>
      </p:sp>
      <p:sp>
        <p:nvSpPr>
          <p:cNvPr id="27" name="mock-button-url"/>
          <p:cNvSpPr txBox="1"/>
          <p:nvPr/>
        </p:nvSpPr>
        <p:spPr>
          <a:xfrm>
            <a:off x="8778240" y="4069080"/>
            <a:ext cx="2468880" cy="457200"/>
          </a:xfrm>
          <a:prstGeom prst="roundRect">
            <a:avLst>
              <a:gd name="adj" fmla="val 16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URLを発行</a:t>
            </a:r>
            <a:endParaRPr lang="en-US" sz="1400" dirty="0"/>
          </a:p>
        </p:txBody>
      </p:sp>
      <p:sp>
        <p:nvSpPr>
          <p:cNvPr id="28" name="mock-highlight"/>
          <p:cNvSpPr/>
          <p:nvPr/>
        </p:nvSpPr>
        <p:spPr>
          <a:xfrm>
            <a:off x="8705088" y="3995928"/>
            <a:ext cx="2615184" cy="603504"/>
          </a:xfrm>
          <a:prstGeom prst="roundRect">
            <a:avLst>
              <a:gd name="adj" fmla="val 18182"/>
            </a:avLst>
          </a:prstGeom>
          <a:ln w="38100">
            <a:solidFill>
              <a:schemeClr val="accent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498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困ったときは</a:t>
            </a:r>
            <a:endParaRPr lang="en-US" sz="2800" dirty="0"/>
          </a:p>
        </p:txBody>
      </p:sp>
      <p:sp>
        <p:nvSpPr>
          <p:cNvPr id="3" name="faq-card-1"/>
          <p:cNvSpPr/>
          <p:nvPr/>
        </p:nvSpPr>
        <p:spPr>
          <a:xfrm>
            <a:off x="548640" y="1417320"/>
            <a:ext cx="53949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pic>
        <p:nvPicPr>
          <p:cNvPr id="4" name="faq-icon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37360"/>
            <a:ext cx="411480" cy="411480"/>
          </a:xfrm>
          <a:prstGeom prst="rect">
            <a:avLst/>
          </a:prstGeom>
        </p:spPr>
      </p:pic>
      <p:sp>
        <p:nvSpPr>
          <p:cNvPr id="5" name="faq-q-1"/>
          <p:cNvSpPr txBox="1"/>
          <p:nvPr/>
        </p:nvSpPr>
        <p:spPr>
          <a:xfrm>
            <a:off x="1463040" y="1691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メールが届かない</a:t>
            </a:r>
            <a:endParaRPr lang="en-US" sz="1800" dirty="0"/>
          </a:p>
        </p:txBody>
      </p:sp>
      <p:sp>
        <p:nvSpPr>
          <p:cNvPr id="6" name="faq-a-1"/>
          <p:cNvSpPr txBox="1"/>
          <p:nvPr/>
        </p:nvSpPr>
        <p:spPr>
          <a:xfrm>
            <a:off x="1463040" y="23317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迷惑メールフォルダを確認し、もう一度「登録用のリンクを送信」を押してください。</a:t>
            </a:r>
            <a:endParaRPr lang="en-US" sz="1400" dirty="0"/>
          </a:p>
        </p:txBody>
      </p:sp>
      <p:sp>
        <p:nvSpPr>
          <p:cNvPr id="7" name="faq-card-2"/>
          <p:cNvSpPr/>
          <p:nvPr/>
        </p:nvSpPr>
        <p:spPr>
          <a:xfrm>
            <a:off x="6217920" y="1417320"/>
            <a:ext cx="53949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pic>
        <p:nvPicPr>
          <p:cNvPr id="8" name="faq-icon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737360"/>
            <a:ext cx="411480" cy="411480"/>
          </a:xfrm>
          <a:prstGeom prst="rect">
            <a:avLst/>
          </a:prstGeom>
        </p:spPr>
      </p:pic>
      <p:sp>
        <p:nvSpPr>
          <p:cNvPr id="9" name="faq-q-2"/>
          <p:cNvSpPr txBox="1"/>
          <p:nvPr/>
        </p:nvSpPr>
        <p:spPr>
          <a:xfrm>
            <a:off x="7132320" y="1691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すでにビジネスIDがある</a:t>
            </a:r>
            <a:endParaRPr lang="en-US" sz="1800" dirty="0"/>
          </a:p>
        </p:txBody>
      </p:sp>
      <p:sp>
        <p:nvSpPr>
          <p:cNvPr id="10" name="faq-a-2"/>
          <p:cNvSpPr txBox="1"/>
          <p:nvPr/>
        </p:nvSpPr>
        <p:spPr>
          <a:xfrm>
            <a:off x="7132320" y="23317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「LINEビジネスIDでログイン」から進めば、新しく作る必要はありません。</a:t>
            </a:r>
            <a:endParaRPr lang="en-US" sz="1400" dirty="0"/>
          </a:p>
        </p:txBody>
      </p:sp>
      <p:sp>
        <p:nvSpPr>
          <p:cNvPr id="11" name="faq-card-3"/>
          <p:cNvSpPr/>
          <p:nvPr/>
        </p:nvSpPr>
        <p:spPr>
          <a:xfrm>
            <a:off x="548640" y="3749040"/>
            <a:ext cx="53949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pic>
        <p:nvPicPr>
          <p:cNvPr id="12" name="faq-icon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069080"/>
            <a:ext cx="411480" cy="411480"/>
          </a:xfrm>
          <a:prstGeom prst="rect">
            <a:avLst/>
          </a:prstGeom>
        </p:spPr>
      </p:pic>
      <p:sp>
        <p:nvSpPr>
          <p:cNvPr id="13" name="faq-q-3"/>
          <p:cNvSpPr txBox="1"/>
          <p:nvPr/>
        </p:nvSpPr>
        <p:spPr>
          <a:xfrm>
            <a:off x="1463040" y="40233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アカウント名を変えたい</a:t>
            </a:r>
            <a:endParaRPr lang="en-US" sz="1800" dirty="0"/>
          </a:p>
        </p:txBody>
      </p:sp>
      <p:sp>
        <p:nvSpPr>
          <p:cNvPr id="14" name="faq-a-3"/>
          <p:cNvSpPr txBox="1"/>
          <p:nvPr/>
        </p:nvSpPr>
        <p:spPr>
          <a:xfrm>
            <a:off x="1463040" y="46634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管理画面の「設定」から後で変更できます。</a:t>
            </a:r>
            <a:endParaRPr lang="en-US" sz="1400" dirty="0"/>
          </a:p>
        </p:txBody>
      </p:sp>
      <p:sp>
        <p:nvSpPr>
          <p:cNvPr id="15" name="faq-card-4"/>
          <p:cNvSpPr/>
          <p:nvPr/>
        </p:nvSpPr>
        <p:spPr>
          <a:xfrm>
            <a:off x="6217920" y="3749040"/>
            <a:ext cx="53949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pic>
        <p:nvPicPr>
          <p:cNvPr id="16" name="faq-icon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069080"/>
            <a:ext cx="411480" cy="411480"/>
          </a:xfrm>
          <a:prstGeom prst="rect">
            <a:avLst/>
          </a:prstGeom>
        </p:spPr>
      </p:pic>
      <p:sp>
        <p:nvSpPr>
          <p:cNvPr id="17" name="faq-q-4"/>
          <p:cNvSpPr txBox="1"/>
          <p:nvPr/>
        </p:nvSpPr>
        <p:spPr>
          <a:xfrm>
            <a:off x="7132320" y="40233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料金が気になる</a:t>
            </a:r>
            <a:endParaRPr lang="en-US" sz="1800" dirty="0"/>
          </a:p>
        </p:txBody>
      </p:sp>
      <p:sp>
        <p:nvSpPr>
          <p:cNvPr id="18" name="faq-a-4"/>
          <p:cNvSpPr txBox="1"/>
          <p:nvPr/>
        </p:nvSpPr>
        <p:spPr>
          <a:xfrm>
            <a:off x="7132320" y="46634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無料プランで開始できます。配信数が増えたら有料プランを検討します。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498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開設後の設定は制作側で進めます</a:t>
            </a:r>
            <a:endParaRPr lang="en-US" sz="2800" dirty="0"/>
          </a:p>
        </p:txBody>
      </p:sp>
      <p:sp>
        <p:nvSpPr>
          <p:cNvPr id="3" name="after-circle-1"/>
          <p:cNvSpPr/>
          <p:nvPr/>
        </p:nvSpPr>
        <p:spPr>
          <a:xfrm>
            <a:off x="548640" y="1417320"/>
            <a:ext cx="777240" cy="77724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4" name="after-icon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609344"/>
            <a:ext cx="393192" cy="393192"/>
          </a:xfrm>
          <a:prstGeom prst="rect">
            <a:avLst/>
          </a:prstGeom>
        </p:spPr>
      </p:pic>
      <p:sp>
        <p:nvSpPr>
          <p:cNvPr id="5" name="after-head-1"/>
          <p:cNvSpPr txBox="1"/>
          <p:nvPr/>
        </p:nvSpPr>
        <p:spPr>
          <a:xfrm>
            <a:off x="1554480" y="1371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プロフィール</a:t>
            </a:r>
            <a:endParaRPr lang="en-US" sz="1800" dirty="0"/>
          </a:p>
        </p:txBody>
      </p:sp>
      <p:sp>
        <p:nvSpPr>
          <p:cNvPr id="6" name="after-body-1"/>
          <p:cNvSpPr txBox="1"/>
          <p:nvPr/>
        </p:nvSpPr>
        <p:spPr>
          <a:xfrm>
            <a:off x="1554480" y="180136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ロゴ・営業時間・住所・ホームページを登録</a:t>
            </a:r>
            <a:endParaRPr lang="en-US" sz="1400" dirty="0"/>
          </a:p>
        </p:txBody>
      </p:sp>
      <p:sp>
        <p:nvSpPr>
          <p:cNvPr id="7" name="after-circle-2"/>
          <p:cNvSpPr/>
          <p:nvPr/>
        </p:nvSpPr>
        <p:spPr>
          <a:xfrm>
            <a:off x="548640" y="2514600"/>
            <a:ext cx="777240" cy="77724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8" name="after-icon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2706624"/>
            <a:ext cx="393192" cy="393192"/>
          </a:xfrm>
          <a:prstGeom prst="rect">
            <a:avLst/>
          </a:prstGeom>
        </p:spPr>
      </p:pic>
      <p:sp>
        <p:nvSpPr>
          <p:cNvPr id="9" name="after-head-2"/>
          <p:cNvSpPr txBox="1"/>
          <p:nvPr/>
        </p:nvSpPr>
        <p:spPr>
          <a:xfrm>
            <a:off x="1554480" y="2468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あいさつメッセージ</a:t>
            </a:r>
            <a:endParaRPr lang="en-US" sz="1800" dirty="0"/>
          </a:p>
        </p:txBody>
      </p:sp>
      <p:sp>
        <p:nvSpPr>
          <p:cNvPr id="10" name="after-body-2"/>
          <p:cNvSpPr txBox="1"/>
          <p:nvPr/>
        </p:nvSpPr>
        <p:spPr>
          <a:xfrm>
            <a:off x="1554480" y="289864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友だち追加された直後に届くメッセージ</a:t>
            </a:r>
            <a:endParaRPr lang="en-US" sz="1400" dirty="0"/>
          </a:p>
        </p:txBody>
      </p:sp>
      <p:sp>
        <p:nvSpPr>
          <p:cNvPr id="11" name="after-circle-3"/>
          <p:cNvSpPr/>
          <p:nvPr/>
        </p:nvSpPr>
        <p:spPr>
          <a:xfrm>
            <a:off x="548640" y="3611880"/>
            <a:ext cx="777240" cy="77724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2" name="after-icon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803904"/>
            <a:ext cx="393192" cy="393192"/>
          </a:xfrm>
          <a:prstGeom prst="rect">
            <a:avLst/>
          </a:prstGeom>
        </p:spPr>
      </p:pic>
      <p:sp>
        <p:nvSpPr>
          <p:cNvPr id="13" name="after-head-3"/>
          <p:cNvSpPr txBox="1"/>
          <p:nvPr/>
        </p:nvSpPr>
        <p:spPr>
          <a:xfrm>
            <a:off x="1554480" y="35661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リッチメニュー</a:t>
            </a:r>
            <a:endParaRPr lang="en-US" sz="1800" dirty="0"/>
          </a:p>
        </p:txBody>
      </p:sp>
      <p:sp>
        <p:nvSpPr>
          <p:cNvPr id="14" name="after-body-3"/>
          <p:cNvSpPr txBox="1"/>
          <p:nvPr/>
        </p:nvSpPr>
        <p:spPr>
          <a:xfrm>
            <a:off x="1554480" y="39959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トーク画面の下に出るメニュー（次のページ）</a:t>
            </a:r>
            <a:endParaRPr lang="en-US" sz="1400" dirty="0"/>
          </a:p>
        </p:txBody>
      </p:sp>
      <p:sp>
        <p:nvSpPr>
          <p:cNvPr id="15" name="after-circle-4"/>
          <p:cNvSpPr/>
          <p:nvPr/>
        </p:nvSpPr>
        <p:spPr>
          <a:xfrm>
            <a:off x="548640" y="4709160"/>
            <a:ext cx="777240" cy="77724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6" name="after-icon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4901184"/>
            <a:ext cx="393192" cy="393192"/>
          </a:xfrm>
          <a:prstGeom prst="rect">
            <a:avLst/>
          </a:prstGeom>
        </p:spPr>
      </p:pic>
      <p:sp>
        <p:nvSpPr>
          <p:cNvPr id="17" name="after-head-4"/>
          <p:cNvSpPr txBox="1"/>
          <p:nvPr/>
        </p:nvSpPr>
        <p:spPr>
          <a:xfrm>
            <a:off x="1554480" y="4663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認証済アカウント申請</a:t>
            </a:r>
            <a:endParaRPr lang="en-US" sz="1800" dirty="0"/>
          </a:p>
        </p:txBody>
      </p:sp>
      <p:sp>
        <p:nvSpPr>
          <p:cNvPr id="18" name="after-body-4"/>
          <p:cNvSpPr txBox="1"/>
          <p:nvPr/>
        </p:nvSpPr>
        <p:spPr>
          <a:xfrm>
            <a:off x="1554480" y="509320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青いバッジが付き、LINE内の検索に表示される</a:t>
            </a:r>
            <a:endParaRPr lang="en-US" sz="1400" dirty="0"/>
          </a:p>
        </p:txBody>
      </p:sp>
      <p:sp>
        <p:nvSpPr>
          <p:cNvPr id="19" name="ask-box"/>
          <p:cNvSpPr/>
          <p:nvPr/>
        </p:nvSpPr>
        <p:spPr>
          <a:xfrm>
            <a:off x="6400800" y="1417320"/>
            <a:ext cx="5212080" cy="3017520"/>
          </a:xfrm>
          <a:prstGeom prst="roundRect">
            <a:avLst>
              <a:gd name="adj" fmla="val 3636"/>
            </a:avLst>
          </a:prstGeom>
          <a:solidFill>
            <a:schemeClr val="tx1"/>
          </a:solidFill>
          <a:ln/>
        </p:spPr>
      </p:sp>
      <p:sp>
        <p:nvSpPr>
          <p:cNvPr id="20" name="ask-text"/>
          <p:cNvSpPr txBox="1"/>
          <p:nvPr/>
        </p:nvSpPr>
        <p:spPr>
          <a:xfrm>
            <a:off x="6766560" y="16916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お願いしたいこと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各ボタンのリンク先URL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　建築実例・古河展示場 Room Tour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　資料請求フォーム／見学予約フォーム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営業時間・定休日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展示場や施工の写真（あれば）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498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リッチメニューでできること</a:t>
            </a:r>
            <a:endParaRPr lang="en-US" sz="2800" dirty="0"/>
          </a:p>
        </p:txBody>
      </p:sp>
      <p:sp>
        <p:nvSpPr>
          <p:cNvPr id="3" name="phone-body"/>
          <p:cNvSpPr/>
          <p:nvPr/>
        </p:nvSpPr>
        <p:spPr>
          <a:xfrm>
            <a:off x="822960" y="1188720"/>
            <a:ext cx="3931920" cy="4983480"/>
          </a:xfrm>
          <a:prstGeom prst="roundRect">
            <a:avLst>
              <a:gd name="adj" fmla="val 8140"/>
            </a:avLst>
          </a:prstGeom>
          <a:solidFill>
            <a:schemeClr val="tx1"/>
          </a:solidFill>
          <a:ln/>
        </p:spPr>
      </p:sp>
      <p:sp>
        <p:nvSpPr>
          <p:cNvPr id="4" name="phone-screen"/>
          <p:cNvSpPr/>
          <p:nvPr/>
        </p:nvSpPr>
        <p:spPr>
          <a:xfrm>
            <a:off x="987552" y="1508760"/>
            <a:ext cx="3602736" cy="4343400"/>
          </a:xfrm>
          <a:prstGeom prst="rect">
            <a:avLst/>
          </a:prstGeom>
          <a:solidFill>
            <a:srgbClr val="8CABD9"/>
          </a:solidFill>
          <a:ln/>
        </p:spPr>
      </p:sp>
      <p:sp>
        <p:nvSpPr>
          <p:cNvPr id="5" name="phone-header"/>
          <p:cNvSpPr txBox="1"/>
          <p:nvPr/>
        </p:nvSpPr>
        <p:spPr>
          <a:xfrm>
            <a:off x="987552" y="1508760"/>
            <a:ext cx="3602736" cy="384048"/>
          </a:xfrm>
          <a:prstGeom prst="rect">
            <a:avLst/>
          </a:prstGeom>
          <a:solidFill>
            <a:srgbClr val="6E8DB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ハウスワーク</a:t>
            </a:r>
            <a:endParaRPr lang="en-US" sz="1200" dirty="0"/>
          </a:p>
        </p:txBody>
      </p:sp>
      <p:sp>
        <p:nvSpPr>
          <p:cNvPr id="6" name="phone-message"/>
          <p:cNvSpPr txBox="1"/>
          <p:nvPr/>
        </p:nvSpPr>
        <p:spPr>
          <a:xfrm>
            <a:off x="1170432" y="2057400"/>
            <a:ext cx="2651760" cy="45720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友だち追加ありがとうございます！</a:t>
            </a:r>
            <a:endParaRPr lang="en-US" sz="1100" dirty="0"/>
          </a:p>
        </p:txBody>
      </p:sp>
      <p:pic>
        <p:nvPicPr>
          <p:cNvPr id="7" name="richmenu-image" descr="/home/user/my-first-project_atinterior/line-richmenu/richmenu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3422475"/>
            <a:ext cx="3602736" cy="2429685"/>
          </a:xfrm>
          <a:prstGeom prst="rect">
            <a:avLst/>
          </a:prstGeom>
        </p:spPr>
      </p:pic>
      <p:sp>
        <p:nvSpPr>
          <p:cNvPr id="8" name="menu-badge-1"/>
          <p:cNvSpPr txBox="1"/>
          <p:nvPr/>
        </p:nvSpPr>
        <p:spPr>
          <a:xfrm>
            <a:off x="4178808" y="3486483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menu-badge-2"/>
          <p:cNvSpPr txBox="1"/>
          <p:nvPr/>
        </p:nvSpPr>
        <p:spPr>
          <a:xfrm>
            <a:off x="1776984" y="4701325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menu-badge-3"/>
          <p:cNvSpPr txBox="1"/>
          <p:nvPr/>
        </p:nvSpPr>
        <p:spPr>
          <a:xfrm>
            <a:off x="2977896" y="4701325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menu-badge-4"/>
          <p:cNvSpPr txBox="1"/>
          <p:nvPr/>
        </p:nvSpPr>
        <p:spPr>
          <a:xfrm>
            <a:off x="4178808" y="4701325"/>
            <a:ext cx="347472" cy="347472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2" name="menu-num-1"/>
          <p:cNvSpPr txBox="1"/>
          <p:nvPr/>
        </p:nvSpPr>
        <p:spPr>
          <a:xfrm>
            <a:off x="5486400" y="1325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3" name="menu-head-1"/>
          <p:cNvSpPr txBox="1"/>
          <p:nvPr/>
        </p:nvSpPr>
        <p:spPr>
          <a:xfrm>
            <a:off x="6172200" y="130759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ハウスワークの家</a:t>
            </a:r>
            <a:endParaRPr lang="en-US" sz="1900" dirty="0"/>
          </a:p>
        </p:txBody>
      </p:sp>
      <p:sp>
        <p:nvSpPr>
          <p:cNvPr id="14" name="menu-body-1"/>
          <p:cNvSpPr txBox="1"/>
          <p:nvPr/>
        </p:nvSpPr>
        <p:spPr>
          <a:xfrm>
            <a:off x="6172200" y="17830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選べるデザイン注文住宅。会社と家づくりの紹介</a:t>
            </a:r>
            <a:endParaRPr lang="en-US" sz="1400" dirty="0"/>
          </a:p>
        </p:txBody>
      </p:sp>
      <p:sp>
        <p:nvSpPr>
          <p:cNvPr id="15" name="menu-num-2"/>
          <p:cNvSpPr txBox="1"/>
          <p:nvPr/>
        </p:nvSpPr>
        <p:spPr>
          <a:xfrm>
            <a:off x="5486400" y="2514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menu-head-2"/>
          <p:cNvSpPr txBox="1"/>
          <p:nvPr/>
        </p:nvSpPr>
        <p:spPr>
          <a:xfrm>
            <a:off x="6172200" y="249631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建築実例</a:t>
            </a:r>
            <a:endParaRPr lang="en-US" sz="1900" dirty="0"/>
          </a:p>
        </p:txBody>
      </p:sp>
      <p:sp>
        <p:nvSpPr>
          <p:cNvPr id="17" name="menu-body-2"/>
          <p:cNvSpPr txBox="1"/>
          <p:nvPr/>
        </p:nvSpPr>
        <p:spPr>
          <a:xfrm>
            <a:off x="6172200" y="29718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施工事例と ROOM TOUR 動画が見られる</a:t>
            </a:r>
            <a:endParaRPr lang="en-US" sz="1400" dirty="0"/>
          </a:p>
        </p:txBody>
      </p:sp>
      <p:sp>
        <p:nvSpPr>
          <p:cNvPr id="18" name="menu-num-3"/>
          <p:cNvSpPr txBox="1"/>
          <p:nvPr/>
        </p:nvSpPr>
        <p:spPr>
          <a:xfrm>
            <a:off x="5486400" y="3703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menu-head-3"/>
          <p:cNvSpPr txBox="1"/>
          <p:nvPr/>
        </p:nvSpPr>
        <p:spPr>
          <a:xfrm>
            <a:off x="6172200" y="368503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家づくりBOOKプレゼント</a:t>
            </a:r>
            <a:endParaRPr lang="en-US" sz="1900" dirty="0"/>
          </a:p>
        </p:txBody>
      </p:sp>
      <p:sp>
        <p:nvSpPr>
          <p:cNvPr id="20" name="menu-body-3"/>
          <p:cNvSpPr txBox="1"/>
          <p:nvPr/>
        </p:nvSpPr>
        <p:spPr>
          <a:xfrm>
            <a:off x="6172200" y="4160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オリジナル家づくりBOOKを受け取れる</a:t>
            </a:r>
            <a:endParaRPr lang="en-US" sz="1400" dirty="0"/>
          </a:p>
        </p:txBody>
      </p:sp>
      <p:sp>
        <p:nvSpPr>
          <p:cNvPr id="21" name="menu-num-4"/>
          <p:cNvSpPr txBox="1"/>
          <p:nvPr/>
        </p:nvSpPr>
        <p:spPr>
          <a:xfrm>
            <a:off x="5486400" y="4892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menu-head-4"/>
          <p:cNvSpPr txBox="1"/>
          <p:nvPr/>
        </p:nvSpPr>
        <p:spPr>
          <a:xfrm>
            <a:off x="6172200" y="487375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見学予約</a:t>
            </a:r>
            <a:endParaRPr lang="en-US" sz="1900" dirty="0"/>
          </a:p>
        </p:txBody>
      </p:sp>
      <p:sp>
        <p:nvSpPr>
          <p:cNvPr id="23" name="menu-body-4"/>
          <p:cNvSpPr txBox="1"/>
          <p:nvPr/>
        </p:nvSpPr>
        <p:spPr>
          <a:xfrm>
            <a:off x="6172200" y="53492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展示場の見学をその場で予約できる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498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useWork">
  <a:themeElements>
    <a:clrScheme name="HouseWork">
      <a:dk1>
        <a:srgbClr val="231F1C"/>
      </a:dk1>
      <a:lt1>
        <a:srgbClr val="FFFFFF"/>
      </a:lt1>
      <a:dk2>
        <a:srgbClr val="7B6A56"/>
      </a:dk2>
      <a:lt2>
        <a:srgbClr val="F4F1ED"/>
      </a:lt2>
      <a:accent1>
        <a:srgbClr val="F39800"/>
      </a:accent1>
      <a:accent2>
        <a:srgbClr val="7B6A56"/>
      </a:accent2>
      <a:accent3>
        <a:srgbClr val="231F1C"/>
      </a:accent3>
      <a:accent4>
        <a:srgbClr val="C9BBA8"/>
      </a:accent4>
      <a:accent5>
        <a:srgbClr val="D8CFC4"/>
      </a:accent5>
      <a:accent6>
        <a:srgbClr val="06C755"/>
      </a:accent6>
      <a:hlink>
        <a:srgbClr val="F39800"/>
      </a:hlink>
      <a:folHlink>
        <a:srgbClr val="7B6A56"/>
      </a:folHlink>
    </a:clrScheme>
    <a:fontScheme name="HouseWork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LINE公式アカウント 開設手順書</dc:title>
  <dc:subject>PptxGenJS Presentation</dc:subject>
  <dc:creator>株式会社ハウスワーク</dc:creator>
  <cp:lastModifiedBy>株式会社ハウスワーク</cp:lastModifiedBy>
  <cp:revision>1</cp:revision>
  <dcterms:created xsi:type="dcterms:W3CDTF">2026-10-10T09:01:34Z</dcterms:created>
  <dcterms:modified xsi:type="dcterms:W3CDTF">2026-10-10T09:01:34Z</dcterms:modified>
</cp:coreProperties>
</file>